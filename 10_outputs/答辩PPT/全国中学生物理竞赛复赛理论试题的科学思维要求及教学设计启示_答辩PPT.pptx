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c4537e54db441fd" Type="http://schemas.openxmlformats.org/officeDocument/2006/relationships/officeDocument" Target="ppt/presentation.xml"/><Relationship Id="R10e7aa71aa4b43f4" Type="http://schemas.openxmlformats.org/package/2006/relationships/metadata/core-properties" Target="docProps/core.xml"/><Relationship Id="R83c827acc37a4e1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6ef76a03f4ad2"/>
  </p:sldMasterIdLst>
  <p:notesMasterIdLst>
    <p:notesMasterId xmlns:r="http://schemas.openxmlformats.org/officeDocument/2006/relationships" r:id="R11806c0f584845f7"/>
  </p:notesMasterIdLst>
  <p:sldIdLst>
    <p:sldId xmlns:r="http://schemas.openxmlformats.org/officeDocument/2006/relationships" id="256" r:id="R51cfbccead68487d"/>
    <p:sldId xmlns:r="http://schemas.openxmlformats.org/officeDocument/2006/relationships" id="257" r:id="R33571a86e8c24632"/>
    <p:sldId xmlns:r="http://schemas.openxmlformats.org/officeDocument/2006/relationships" id="258" r:id="R919439419fde4c33"/>
    <p:sldId xmlns:r="http://schemas.openxmlformats.org/officeDocument/2006/relationships" id="259" r:id="R5892afae1442408e"/>
    <p:sldId xmlns:r="http://schemas.openxmlformats.org/officeDocument/2006/relationships" id="260" r:id="R926ad6bc5f3147ca"/>
    <p:sldId xmlns:r="http://schemas.openxmlformats.org/officeDocument/2006/relationships" id="261" r:id="Ra1b866d334c24518"/>
    <p:sldId xmlns:r="http://schemas.openxmlformats.org/officeDocument/2006/relationships" id="262" r:id="Rb9d681d8ed014178"/>
    <p:sldId xmlns:r="http://schemas.openxmlformats.org/officeDocument/2006/relationships" id="263" r:id="Rb6379c21e3d44c7b"/>
    <p:sldId xmlns:r="http://schemas.openxmlformats.org/officeDocument/2006/relationships" id="264" r:id="R72640f81b1a64744"/>
    <p:sldId xmlns:r="http://schemas.openxmlformats.org/officeDocument/2006/relationships" id="265" r:id="R6070608ed4844350"/>
    <p:sldId xmlns:r="http://schemas.openxmlformats.org/officeDocument/2006/relationships" id="266" r:id="Raea2b6589f3842dc"/>
    <p:sldId xmlns:r="http://schemas.openxmlformats.org/officeDocument/2006/relationships" id="267" r:id="R17bf86798287464c"/>
    <p:sldId xmlns:r="http://schemas.openxmlformats.org/officeDocument/2006/relationships" id="268" r:id="Rcdae2b92a3d94d62"/>
    <p:sldId xmlns:r="http://schemas.openxmlformats.org/officeDocument/2006/relationships" id="269" r:id="R4c5a3cb852be457d"/>
    <p:sldId xmlns:r="http://schemas.openxmlformats.org/officeDocument/2006/relationships" id="270" r:id="R6145b41869d54f14"/>
    <p:sldId xmlns:r="http://schemas.openxmlformats.org/officeDocument/2006/relationships" id="271" r:id="R724c5ce61a7d409c"/>
    <p:sldId xmlns:r="http://schemas.openxmlformats.org/officeDocument/2006/relationships" id="272" r:id="Rb82992e2f48747df"/>
    <p:sldId xmlns:r="http://schemas.openxmlformats.org/officeDocument/2006/relationships" id="273" r:id="R9ac0f0960f414f59"/>
    <p:sldId xmlns:r="http://schemas.openxmlformats.org/officeDocument/2006/relationships" id="274" r:id="R0f951e5de7cd4b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951e5de7cd4b97" Type="http://schemas.openxmlformats.org/officeDocument/2006/relationships/slide" Target="slides/slide19.xml"/><Relationship Id="R11806c0f584845f7" Type="http://schemas.openxmlformats.org/officeDocument/2006/relationships/notesMaster" Target="notesMasters/notesMaster1.xml"/><Relationship Id="R17bf86798287464c" Type="http://schemas.openxmlformats.org/officeDocument/2006/relationships/slide" Target="slides/slide12.xml"/><Relationship Id="R33571a86e8c24632" Type="http://schemas.openxmlformats.org/officeDocument/2006/relationships/slide" Target="slides/slide2.xml"/><Relationship Id="R4c5a3cb852be457d" Type="http://schemas.openxmlformats.org/officeDocument/2006/relationships/slide" Target="slides/slide14.xml"/><Relationship Id="R51cfbccead68487d" Type="http://schemas.openxmlformats.org/officeDocument/2006/relationships/slide" Target="slides/slide1.xml"/><Relationship Id="R5892afae1442408e" Type="http://schemas.openxmlformats.org/officeDocument/2006/relationships/slide" Target="slides/slide4.xml"/><Relationship Id="R6070608ed4844350" Type="http://schemas.openxmlformats.org/officeDocument/2006/relationships/slide" Target="slides/slide10.xml"/><Relationship Id="R6145b41869d54f14" Type="http://schemas.openxmlformats.org/officeDocument/2006/relationships/slide" Target="slides/slide15.xml"/><Relationship Id="R62a6ef76a03f4ad2" Type="http://schemas.openxmlformats.org/officeDocument/2006/relationships/slideMaster" Target="slideMasters/slideMaster1.xml"/><Relationship Id="R724c5ce61a7d409c" Type="http://schemas.openxmlformats.org/officeDocument/2006/relationships/slide" Target="slides/slide16.xml"/><Relationship Id="R72640f81b1a64744" Type="http://schemas.openxmlformats.org/officeDocument/2006/relationships/slide" Target="slides/slide9.xml"/><Relationship Id="R75e15e96d12c4843" Type="http://schemas.openxmlformats.org/officeDocument/2006/relationships/tableStyles" Target="tableStyles.xml"/><Relationship Id="R833c27b6394f47c9" Type="http://schemas.openxmlformats.org/officeDocument/2006/relationships/theme" Target="theme/theme1.xml"/><Relationship Id="R919439419fde4c33" Type="http://schemas.openxmlformats.org/officeDocument/2006/relationships/slide" Target="slides/slide3.xml"/><Relationship Id="R926ad6bc5f3147ca" Type="http://schemas.openxmlformats.org/officeDocument/2006/relationships/slide" Target="slides/slide5.xml"/><Relationship Id="R9ac0f0960f414f59" Type="http://schemas.openxmlformats.org/officeDocument/2006/relationships/slide" Target="slides/slide18.xml"/><Relationship Id="Ra1b866d334c24518" Type="http://schemas.openxmlformats.org/officeDocument/2006/relationships/slide" Target="slides/slide6.xml"/><Relationship Id="Raea2b6589f3842dc" Type="http://schemas.openxmlformats.org/officeDocument/2006/relationships/slide" Target="slides/slide11.xml"/><Relationship Id="Rb6379c21e3d44c7b" Type="http://schemas.openxmlformats.org/officeDocument/2006/relationships/slide" Target="slides/slide8.xml"/><Relationship Id="Rb82992e2f48747df" Type="http://schemas.openxmlformats.org/officeDocument/2006/relationships/slide" Target="slides/slide17.xml"/><Relationship Id="Rb9d681d8ed014178" Type="http://schemas.openxmlformats.org/officeDocument/2006/relationships/slide" Target="slides/slide7.xml"/><Relationship Id="Rcdae2b92a3d94d62" Type="http://schemas.openxmlformats.org/officeDocument/2006/relationships/slide" Target="slides/slide13.xml"/><Relationship Id="Rf41a72411d68481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5af190c9eba44d5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f1215ccdbca4302" Type="http://schemas.openxmlformats.org/officeDocument/2006/relationships/slide" Target="../slides/slide1.xml"/><Relationship Id="R847ce24922b04225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17cdfc1365a45f7" Type="http://schemas.openxmlformats.org/officeDocument/2006/relationships/notesMaster" Target="../notesMasters/notesMaster1.xml"/><Relationship Id="R16996e2ba8db48d7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400c75a926e42c4" Type="http://schemas.openxmlformats.org/officeDocument/2006/relationships/notesMaster" Target="../notesMasters/notesMaster1.xml"/><Relationship Id="R386e70dbac814557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6a23cc21eb1b4cad" Type="http://schemas.openxmlformats.org/officeDocument/2006/relationships/notesMaster" Target="../notesMasters/notesMaster1.xml"/><Relationship Id="R82f594f53fe048c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d138acf60ab4e07" Type="http://schemas.openxmlformats.org/officeDocument/2006/relationships/slide" Target="../slides/slide5.xml"/><Relationship Id="Rab7e5278458f4717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b2f234871344899" Type="http://schemas.openxmlformats.org/officeDocument/2006/relationships/notesMaster" Target="../notesMasters/notesMaster1.xml"/><Relationship Id="Rbc7b684728f84c3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265d674c1c34dc8" Type="http://schemas.openxmlformats.org/officeDocument/2006/relationships/notesMaster" Target="../notesMasters/notesMaster1.xml"/><Relationship Id="Rf237951c7eac47f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5007e389d854795" Type="http://schemas.openxmlformats.org/officeDocument/2006/relationships/notesMaster" Target="../notesMasters/notesMaster1.xml"/><Relationship Id="Rc33a450607814b75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59efea8a5f54af9" Type="http://schemas.openxmlformats.org/officeDocument/2006/relationships/slide" Target="../slides/slide9.xml"/><Relationship Id="Rae8b8b6989304524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63f3c4dd8fd4d57" Type="http://schemas.openxmlformats.org/officeDocument/2006/relationships/notesMaster" Target="../notesMasters/notesMaster1.xml"/><Relationship Id="Raac44171eaac499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e550a9d7d1d47bb" Type="http://schemas.openxmlformats.org/officeDocument/2006/relationships/slide" Target="../slides/slide11.xml"/><Relationship Id="Rfef886d850c446c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7dce98cd15447ea" Type="http://schemas.openxmlformats.org/officeDocument/2006/relationships/slide" Target="../slides/slide12.xml"/><Relationship Id="R8c99189aaa90403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db43c2c11cc44a5" Type="http://schemas.openxmlformats.org/officeDocument/2006/relationships/notesMaster" Target="../notesMasters/notesMaster1.xml"/><Relationship Id="R2052ce60321f432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c84b02caba1d4d8b" Type="http://schemas.openxmlformats.org/officeDocument/2006/relationships/notesMaster" Target="../notesMasters/notesMaster1.xml"/><Relationship Id="Rd268038c05654cfb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70971701ef81486f" Type="http://schemas.openxmlformats.org/officeDocument/2006/relationships/slide" Target="../slides/slide15.xml"/><Relationship Id="Rec6360c5ea46422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0181b264efd4cfd" Type="http://schemas.openxmlformats.org/officeDocument/2006/relationships/notesMaster" Target="../notesMasters/notesMaster1.xml"/><Relationship Id="R3f57fa824e4f4c29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232148256ef84f58" Type="http://schemas.openxmlformats.org/officeDocument/2006/relationships/slide" Target="../slides/slide17.xml"/><Relationship Id="Rae0d868284bc4a57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5d1a8edbd1b24074" Type="http://schemas.openxmlformats.org/officeDocument/2006/relationships/slide" Target="../slides/slide18.xml"/><Relationship Id="Rc139f2b41d2f470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4647647652824d1c" Type="http://schemas.openxmlformats.org/officeDocument/2006/relationships/slide" Target="../slides/slide19.xml"/><Relationship Id="Rd4f5d755e5804f8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各位老师好，我汇报的题目是《全国中学生物理竞赛复赛理论试题的科学思维要求及教学设计启示》。汇报分为研究问题、研究设计、主要发现、典型案例与教学启示五部分。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/Users/dongxingxi/physics_competition_thesis_excellent_v2/10_outputs/论文初稿_LaTeX/build/全国中学生物理竞赛复赛理论试题的科学思维要求及教学设计启示.pdf</a:t>
            </a:r>
          </a:p>
          <a:p xmlns:a="http://schemas.openxmlformats.org/drawingml/2006/main">
            <a:r>
              <a:t>- /Users/dongxingxi/physics_competition_thesis_excellent_v2/01_positioning/华东师大官方格式模板/归档论文涉及签名页-专硕（2026更新）.pdf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本研究不把复赛题简单等同于“高难度题”。我关注的是：题目要求学生如何组织条件、模型和关系，以及这些要求怎样转化为课堂中的可观察产出。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/Users/dongxingxi/physics_competition_thesis_excellent_v2/08_manuscript/01_introduction.md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三个问题由描述走向解释，再走向教学转化：先回答总体结构，再通过案例解释机制，最后形成课堂设计。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/Users/dongxingxi/physics_competition_thesis_excellent_v2/08_manuscript/01_introduction.md</a:t>
            </a:r>
          </a:p>
          <a:p xmlns:a="http://schemas.openxmlformats.org/drawingml/2006/main">
            <a:r>
              <a:t>- /Users/dongxingxi/physics_competition_thesis_excellent_v2/08_manuscript/03_methods.md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研究覆盖连续八届复赛理论试题。221个分析单元是主分析单位，四个维度逐一判断，形成884条记录；同时用原始小问和大题两种权重检验结论是否依赖切分方式。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/Users/dongxingxi/physics_competition_thesis_excellent_v2/07_analysis/results/作者授权采用分析版/描述统计/总体维度出现分布.csv</a:t>
            </a:r>
          </a:p>
          <a:p xmlns:a="http://schemas.openxmlformats.org/drawingml/2006/main">
            <a:r>
              <a:t>- /Users/dongxingxi/physics_competition_thesis_excellent_v2/07_analysis/results/作者授权采用分析版/敏感性分析/三种分析单位权重下四维出现比例.csv</a:t>
            </a:r>
          </a:p>
          <a:p xmlns:a="http://schemas.openxmlformats.org/drawingml/2006/main">
            <a:r>
              <a:t>- /Users/dongxingxi/physics_competition_thesis_excellent_v2/08_manuscript/03_methods.md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四个维度不是四种知识，而是四类任务要求。维度用于识别认知活动的性质，等级用于描述同一维度内部关系的组织程度。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/Users/dongxingxi/physics_competition_thesis_excellent_v2/05_coding/科学思维编码手册_第三版.md</a:t>
            </a:r>
          </a:p>
          <a:p xmlns:a="http://schemas.openxmlformats.org/drawingml/2006/main">
            <a:r>
              <a:t>- /Users/dongxingxi/physics_competition_thesis_excellent_v2/08_manuscript/02_theory.md</a:t>
            </a:r>
          </a:p>
          <a:p xmlns:a="http://schemas.openxmlformats.org/drawingml/2006/main">
            <a:r>
              <a:t>- /Users/dongxingxi/physics_competition_thesis_excellent_v2/08_manuscript/03_methods.md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分析流程强调可追溯性。每个编码判断都连接到题干和参考解答的具体证据，并保留相邻等级排除理由。两名匿名评分者对75个单元独立编码，三方分歧再回到完整题干与解答复核。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/Users/dongxingxi/physics_competition_thesis_excellent_v2/05_coding/科学思维编码手册_第三版.md</a:t>
            </a:r>
          </a:p>
          <a:p xmlns:a="http://schemas.openxmlformats.org/drawingml/2006/main">
            <a:r>
              <a:t>- /Users/dongxingxi/physics_competition_thesis_excellent_v2/07_analysis/data/作者授权采用分析版/</a:t>
            </a:r>
          </a:p>
          <a:p xmlns:a="http://schemas.openxmlformats.org/drawingml/2006/main">
            <a:r>
              <a:t>- /Users/dongxingxi/physics_competition_thesis_excellent_v2/09_quality/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所有分析单元都要求科学推理，86.88%包含模型建构；科学论证出现于11.31%的单元，质疑创新极少。这说明复赛题的核心优势是关系链和建模，但开放重构并非普遍要求。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/Users/dongxingxi/physics_competition_thesis_excellent_v2/07_analysis/results/作者授权采用分析版/描述统计/总体维度出现分布.csv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等级分布进一步表明，高水平结构主要出现在模型建构和科学推理。没有记录达到L4，这不是说题目容易，而是说明多数复杂性仍发生在给定情境内部。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/Users/dongxingxi/physics_competition_thesis_excellent_v2/07_analysis/results/作者授权采用分析版/描述统计/各维度等级分布.csv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最常见的组合是模型建构加科学推理，占77.83%。论证和创新没有自然地随难度上升而出现，因此教学中需要通过任务改写主动补入。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/Users/dongxingxi/physics_competition_thesis_excellent_v2/07_analysis/results/作者授权采用分析版/描述统计/维度组合分布.csv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逐届比较中，模型建构保持高位，科学推理始终为百分之百；论证要求波动较大。这里更有价值的是寻找具体任务原因，而不是简单排列届次高低。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/Users/dongxingxi/physics_competition_thesis_excellent_v2/07_analysis/results/作者授权采用分析版/描述统计/分届次维度出现分布.csv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敏感性分析把分析单位、小问和大题分别设为等权。核心排序完全一致，最大绝对变化为2.41个百分点，说明主要描述性结论不由某一种切分方式驱动。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/Users/dongxingxi/physics_competition_thesis_excellent_v2/07_analysis/results/作者授权采用分析版/敏感性分析/三种分析单位权重下四维出现比例.csv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六个案例并不是按学科知识点罗列，而是用于解释六种不同的高认知机制。下面选择两个案例展开，再用一个相邻小问对照说明论证与创新如何被任务措辞触发。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- /Users/dongxingxi/physics_competition_thesis_excellent_v2/10_outputs/全量复赛题干解析与TikZ图册/markdown/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这一题的认知要求不在某一个公式，而在连续关系链：先明确小偏折近似，再把横向力转为冲量、速度变化和角度。教学中可先让学生画出关系图，再进行计算。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/Users/dongxingxi/physics_competition_thesis_excellent_v2/10_outputs/全量复赛题干解析与TikZ图册/markdown/CPHO41-Q06.md</a:t>
            </a:r>
          </a:p>
          <a:p xmlns:a="http://schemas.openxmlformats.org/drawingml/2006/main">
            <a:r>
              <a:t>- /Users/dongxingxi/physics_competition_thesis_excellent_v2/10_outputs/全量复赛题干解析与TikZ图册/markdown/assets/CPHO41-Q06-figure6a.png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这道题的困难来自多对象、多运动形式和接触约束同时存在。教学上先建立对象、方程和约束表，可以降低无序列式的负担，让学生看见方程为何足够闭合。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/Users/dongxingxi/physics_competition_thesis_excellent_v2/10_outputs/全量复赛题干解析与TikZ图册/markdown/CPHO40-Q03.md</a:t>
            </a:r>
          </a:p>
          <a:p xmlns:a="http://schemas.openxmlformats.org/drawingml/2006/main">
            <a:r>
              <a:t>- /Users/dongxingxi/physics_competition_thesis_excellent_v2/10_outputs/全量复赛题干解析与TikZ图册/markdown/assets/CPHO40-Q03-figure1.png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相邻两个小问非常适合展示维度差异。第三问要求用区间不重叠支持结论，属于论证任务；第四问改变物理条件并设计测量方案，触发质疑创新。二者知识背景相同，但任务要求不同。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/Users/dongxingxi/physics_competition_thesis_excellent_v2/10_outputs/全量复赛题干解析与TikZ图册/markdown/CPHO35-Q08.md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这份45分钟设计不追求把整道题讲完，而是围绕一个思维机制形成任务链。教师通过区间图、证据链、模型比较和测量方案四类产出观察学生的思维过程。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- /Users/dongxingxi/physics_competition_thesis_excellent_v2/10_outputs/全量复赛题干解析与TikZ图册/markdown/CPHO35-Q08.md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评价量规与教学产出对齐。四项各零到三分，共十二分，用于给一次任务提供具体反馈，帮助学生知道下一次应补关系、补证据还是补边界说明。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/Users/dongxingxi/physics_competition_thesis_excellent_v2/08_manuscript/05_cases_and_diagnosis.md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研究的核心贡献，是把复赛试题从知识点和解法统计推进到可追溯的思维任务分析，并把统计结果转化为可操作的教学任务。后续可在真实课堂中继续检验教学设计。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/Users/dongxingxi/physics_competition_thesis_excellent_v2/08_manuscript/06_conclusion.md</a:t>
            </a:r>
          </a:p>
          <a:p xmlns:a="http://schemas.openxmlformats.org/drawingml/2006/main">
            <a:r>
              <a:t>- /Users/dongxingxi/physics_competition_thesis_excellent_v2/07_analysis/results/作者授权采用分析版/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我的汇报结束。本文希望说明：复赛训练不仅要关注结果和解法，更要帮助学生理解条件怎样进入模型、关系和结论。恳请各位老师批评指正。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/Users/dongxingxi/physics_competition_thesis_excellent_v2/10_outputs/论文初稿_LaTeX/build/全国中学生物理竞赛复赛理论试题的科学思维要求及教学设计启示.pdf</a:t>
            </a:r>
          </a:p>
          <a:p xmlns:a="http://schemas.openxmlformats.org/drawingml/2006/main">
            <a:r>
              <a:t>- /Users/dongxingxi/physics_competition_thesis_excellent_v2/07_analysis/results/作者授权采用分析版/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734aba5fa604b3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f8a370a557f4087" Type="http://schemas.openxmlformats.org/officeDocument/2006/relationships/theme" Target="theme/theme2.xml"/><Relationship Id="Rccfe26e6f1f04c6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e26e6f1f04c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 Unicode MS"/>
          <a:ea typeface="Arial Unicode MS"/>
          <a:cs typeface="Arial Unicode MS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 Unicode MS"/>
          <a:ea typeface="Arial Unicode MS"/>
          <a:cs typeface="Arial Unicode MS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 Unicode MS"/>
          <a:ea typeface="Arial Unicode MS"/>
          <a:cs typeface="Arial Unicode MS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 Unicode MS"/>
          <a:ea typeface="Arial Unicode MS"/>
          <a:cs typeface="Arial Unicode MS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 Unicode MS"/>
          <a:ea typeface="Arial Unicode MS"/>
          <a:cs typeface="Arial Unicode MS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91727ff6f13475e" Type="http://schemas.openxmlformats.org/officeDocument/2006/relationships/notesSlide" Target="../notesSlides/notesSlide1.xml"/><Relationship Id="R64bc242e6ea74b9d" Type="http://schemas.openxmlformats.org/officeDocument/2006/relationships/slideLayout" Target="../slideLayouts/slideLayout1.xml"/><Relationship Id="Rc65ad3111aea40ed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c23ddf92a0d84377" Type="http://schemas.openxmlformats.org/officeDocument/2006/relationships/notesSlide" Target="../notesSlides/notesSlide2.xml"/><Relationship Id="Rd2247890b894480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0a3f46563f5a41db" Type="http://schemas.openxmlformats.org/officeDocument/2006/relationships/notesSlide" Target="../notesSlides/notesSlide3.xml"/><Relationship Id="R8eec1846a0ba4c04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076d942e0844450" Type="http://schemas.openxmlformats.org/officeDocument/2006/relationships/notesSlide" Target="../notesSlides/notesSlide4.xml"/><Relationship Id="Rbda5067984c24ab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9adde9ce3e0427e" Type="http://schemas.openxmlformats.org/officeDocument/2006/relationships/notesSlide" Target="../notesSlides/notesSlide5.xml"/><Relationship Id="Re7ee3a39652044d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ae87a6c4091742f0" Type="http://schemas.openxmlformats.org/officeDocument/2006/relationships/notesSlide" Target="../notesSlides/notesSlide6.xml"/><Relationship Id="Raf09f0358486476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8802983b7f0467a" Type="http://schemas.openxmlformats.org/officeDocument/2006/relationships/notesSlide" Target="../notesSlides/notesSlide7.xml"/><Relationship Id="R498622d02df74935" Type="http://schemas.openxmlformats.org/officeDocument/2006/relationships/slideLayout" Target="../slideLayouts/slideLayout1.xml"/><Relationship Id="Re394eaca73c345e0" Type="http://schemas.openxmlformats.org/officeDocument/2006/relationships/chart" Target="charts/chart1.xml"/></Relationships>
</file>

<file path=ppt/slides/_rels/slide8.xml.rels><?xml version='1.0' encoding='UTF-8' standalone='yes'?>
<Relationships xmlns="http://schemas.openxmlformats.org/package/2006/relationships"><Relationship Id="R9be79bbe763241de" Type="http://schemas.openxmlformats.org/officeDocument/2006/relationships/chart" Target="charts/chart2.xml"/><Relationship Id="Ra382dd8c825a4f7a" Type="http://schemas.openxmlformats.org/officeDocument/2006/relationships/slideLayout" Target="../slideLayouts/slideLayout1.xml"/><Relationship Id="Rf67fea7c8b71435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429004ff4dbb48dd" Type="http://schemas.openxmlformats.org/officeDocument/2006/relationships/notesSlide" Target="../notesSlides/notesSlide9.xml"/><Relationship Id="Re6795e833a6b4ae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b3ed99c27f2467f" Type="http://schemas.openxmlformats.org/officeDocument/2006/relationships/chart" Target="charts/chart3.xml"/><Relationship Id="R8b286a19497d4b7e" Type="http://schemas.openxmlformats.org/officeDocument/2006/relationships/slideLayout" Target="../slideLayouts/slideLayout1.xml"/><Relationship Id="Ree672fd7f9e0434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b59aca94fe14862" Type="http://schemas.openxmlformats.org/officeDocument/2006/relationships/slideLayout" Target="../slideLayouts/slideLayout1.xml"/><Relationship Id="Reccc3ff6bf934ff0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7c79c618fbc4431" Type="http://schemas.openxmlformats.org/officeDocument/2006/relationships/slideLayout" Target="../slideLayouts/slideLayout1.xml"/><Relationship Id="Rf998791864f2487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186a6f7020a4f0e" Type="http://schemas.openxmlformats.org/officeDocument/2006/relationships/notesSlide" Target="../notesSlides/notesSlide13.xml"/><Relationship Id="Ra9756167c0804f82" Type="http://schemas.openxmlformats.org/officeDocument/2006/relationships/image" Target="../media/image2.png"/><Relationship Id="Re949e94f8ba744e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d7dc97e5cf44351" Type="http://schemas.openxmlformats.org/officeDocument/2006/relationships/slideLayout" Target="../slideLayouts/slideLayout1.xml"/><Relationship Id="Ra62047efd6534f82" Type="http://schemas.openxmlformats.org/officeDocument/2006/relationships/notesSlide" Target="../notesSlides/notesSlide14.xml"/><Relationship Id="Ra7bb552e7a294c2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5ea779a440a042f0" Type="http://schemas.openxmlformats.org/officeDocument/2006/relationships/slideLayout" Target="../slideLayouts/slideLayout1.xml"/><Relationship Id="R6369a4afb2364a1f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17f137a43d6745c5" Type="http://schemas.openxmlformats.org/officeDocument/2006/relationships/slideLayout" Target="../slideLayouts/slideLayout1.xml"/><Relationship Id="Rf58400a0ca424c9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6720db7415fd4183" Type="http://schemas.openxmlformats.org/officeDocument/2006/relationships/notesSlide" Target="../notesSlides/notesSlide17.xml"/><Relationship Id="R7bcec8632ba34829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9fb23824663b445c" Type="http://schemas.openxmlformats.org/officeDocument/2006/relationships/notesSlide" Target="../notesSlides/notesSlide18.xml"/><Relationship Id="Rd613a137e5244f1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4e2c92e95d64caa" Type="http://schemas.openxmlformats.org/officeDocument/2006/relationships/notesSlide" Target="../notesSlides/notesSlide19.xml"/><Relationship Id="R9e681f0cd48b4b5c" Type="http://schemas.openxmlformats.org/officeDocument/2006/relationships/image" Target="../media/image4.png"/><Relationship Id="Rd8f70a37873a4f25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3.xlsx"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出现</c:v>
                </c:pt>
              </c:strCache>
            </c:strRef>
          </c:tx>
          <c:spPr>
            <a:solidFill xmlns:a="http://schemas.openxmlformats.org/drawingml/2006/main">
              <a:srgbClr val="7A1F2B"/>
            </a:solidFill>
          </c:spPr>
          <c:dLbls>
            <c:txPr xmlns:a="http://schemas.openxmlformats.org/drawingml/2006/main"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模型建构</c:v>
                </c:pt>
                <c:pt idx="1">
                  <c:v>科学推理</c:v>
                </c:pt>
                <c:pt idx="2">
                  <c:v>科学论证</c:v>
                </c:pt>
                <c:pt idx="3">
                  <c:v>质疑创新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86.88</c:v>
                </c:pt>
                <c:pt idx="1">
                  <c:v>100.0</c:v>
                </c:pt>
                <c:pt idx="2">
                  <c:v>11.31</c:v>
                </c:pt>
                <c:pt idx="3">
                  <c:v>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未出现</c:v>
                </c:pt>
              </c:strCache>
            </c:strRef>
          </c:tx>
          <c:spPr>
            <a:solidFill xmlns:a="http://schemas.openxmlformats.org/drawingml/2006/main">
              <a:srgbClr val="E7E7E7"/>
            </a:solidFill>
          </c:spPr>
          <c:dLbls>
            <c:txPr xmlns:a="http://schemas.openxmlformats.org/drawingml/2006/main">
              <a:bodyPr/>
              <a:lstStyle/>
              <a:p>
                <a:pPr>
                  <a:defRPr>
                    <a:solidFill>
                      <a:srgbClr val="3E3E3E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模型建构</c:v>
                </c:pt>
                <c:pt idx="1">
                  <c:v>科学推理</c:v>
                </c:pt>
                <c:pt idx="2">
                  <c:v>科学论证</c:v>
                </c:pt>
                <c:pt idx="3">
                  <c:v>质疑创新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13.12</c:v>
                </c:pt>
                <c:pt idx="1">
                  <c:v>0.0</c:v>
                </c:pt>
                <c:pt idx="2">
                  <c:v>88.69</c:v>
                </c:pt>
                <c:pt idx="3">
                  <c:v>99.1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xmlns:ns0="http://schemas.openxmlformats.org/officeDocument/2006/relationships" ns0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</c:v>
                </c:pt>
              </c:strCache>
            </c:strRef>
          </c:tx>
          <c:spPr>
            <a:solidFill xmlns:a="http://schemas.openxmlformats.org/drawingml/2006/main">
              <a:srgbClr val="D7E7F0"/>
            </a:solidFill>
          </c:spPr>
          <c:dLbls>
            <c:txPr xmlns:a="http://schemas.openxmlformats.org/drawingml/2006/main">
              <a:bodyPr/>
              <a:lstStyle/>
              <a:p>
                <a:pPr>
                  <a:defRPr>
                    <a:solidFill>
                      <a:srgbClr val="3E3E3E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模型建构</c:v>
                </c:pt>
                <c:pt idx="1">
                  <c:v>科学推理</c:v>
                </c:pt>
                <c:pt idx="2">
                  <c:v>科学论证</c:v>
                </c:pt>
                <c:pt idx="3">
                  <c:v>质疑创新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14.58</c:v>
                </c:pt>
                <c:pt idx="1">
                  <c:v>12.22</c:v>
                </c:pt>
                <c:pt idx="2">
                  <c:v>48.0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</c:v>
                </c:pt>
              </c:strCache>
            </c:strRef>
          </c:tx>
          <c:spPr>
            <a:solidFill xmlns:a="http://schemas.openxmlformats.org/drawingml/2006/main">
              <a:srgbClr val="8AB6CE"/>
            </a:solidFill>
          </c:spPr>
          <c:dLbls>
            <c:txPr xmlns:a="http://schemas.openxmlformats.org/drawingml/2006/main">
              <a:bodyPr/>
              <a:lstStyle/>
              <a:p>
                <a:pPr>
                  <a:defRPr>
                    <a:solidFill>
                      <a:srgbClr val="3E3E3E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模型建构</c:v>
                </c:pt>
                <c:pt idx="1">
                  <c:v>科学推理</c:v>
                </c:pt>
                <c:pt idx="2">
                  <c:v>科学论证</c:v>
                </c:pt>
                <c:pt idx="3">
                  <c:v>质疑创新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35.42</c:v>
                </c:pt>
                <c:pt idx="1">
                  <c:v>30.77</c:v>
                </c:pt>
                <c:pt idx="2">
                  <c:v>44.0</c:v>
                </c:pt>
                <c:pt idx="3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L3</c:v>
                </c:pt>
              </c:strCache>
            </c:strRef>
          </c:tx>
          <c:spPr>
            <a:solidFill xmlns:a="http://schemas.openxmlformats.org/drawingml/2006/main">
              <a:srgbClr val="376A8A"/>
            </a:solidFill>
          </c:spPr>
          <c:dLbls>
            <c:txPr xmlns:a="http://schemas.openxmlformats.org/drawingml/2006/main">
              <a:bodyPr/>
              <a:lstStyle/>
              <a:p>
                <a:pPr>
                  <a:defRPr>
                    <a:solidFill>
                      <a:srgbClr val="FFFFF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模型建构</c:v>
                </c:pt>
                <c:pt idx="1">
                  <c:v>科学推理</c:v>
                </c:pt>
                <c:pt idx="2">
                  <c:v>科学论证</c:v>
                </c:pt>
                <c:pt idx="3">
                  <c:v>质疑创新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50.0</c:v>
                </c:pt>
                <c:pt idx="1">
                  <c:v>57.01</c:v>
                </c:pt>
                <c:pt idx="2">
                  <c:v>8.0</c:v>
                </c:pt>
                <c:pt idx="3">
                  <c:v>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CEC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xmlns:ns0="http://schemas.openxmlformats.org/officeDocument/2006/relationships" ns0:id="rId1">
    <c:autoUpdate val="0"/>
  </c:externalData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模型建构</c:v>
                </c:pt>
              </c:strCache>
            </c:strRef>
          </c:tx>
          <c:spPr>
            <a:ln xmlns:a="http://schemas.openxmlformats.org/drawingml/2006/main" w="28575">
              <a:solidFill>
                <a:srgbClr val="376A8A"/>
              </a:solidFill>
              <a:prstDash val="solid"/>
            </a:ln>
          </c:spPr>
          <c:marker>
            <c:symbol val="circle"/>
            <c:size val="7"/>
          </c:marker>
          <c:dLbls>
            <c:txPr xmlns:a="http://schemas.openxmlformats.org/drawingml/2006/main">
              <a:bodyPr/>
              <a:lstStyle/>
              <a:p>
                <a:pPr>
                  <a:defRPr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35届</c:v>
                </c:pt>
                <c:pt idx="1">
                  <c:v>36届</c:v>
                </c:pt>
                <c:pt idx="2">
                  <c:v>37届</c:v>
                </c:pt>
                <c:pt idx="3">
                  <c:v>38届</c:v>
                </c:pt>
                <c:pt idx="4">
                  <c:v>39届</c:v>
                </c:pt>
                <c:pt idx="5">
                  <c:v>40届</c:v>
                </c:pt>
                <c:pt idx="6">
                  <c:v>41届</c:v>
                </c:pt>
                <c:pt idx="7">
                  <c:v>42届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92.31</c:v>
                </c:pt>
                <c:pt idx="1">
                  <c:v>90.91</c:v>
                </c:pt>
                <c:pt idx="2">
                  <c:v>90.91</c:v>
                </c:pt>
                <c:pt idx="3">
                  <c:v>92.0</c:v>
                </c:pt>
                <c:pt idx="4">
                  <c:v>81.48</c:v>
                </c:pt>
                <c:pt idx="5">
                  <c:v>88.89</c:v>
                </c:pt>
                <c:pt idx="6">
                  <c:v>78.13</c:v>
                </c:pt>
                <c:pt idx="7">
                  <c:v>83.87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科学论证</c:v>
                </c:pt>
              </c:strCache>
            </c:strRef>
          </c:tx>
          <c:spPr>
            <a:ln xmlns:a="http://schemas.openxmlformats.org/drawingml/2006/main" w="28575">
              <a:solidFill>
                <a:srgbClr val="7A1F2B"/>
              </a:solidFill>
              <a:prstDash val="solid"/>
            </a:ln>
          </c:spPr>
          <c:marker>
            <c:symbol val="circle"/>
            <c:size val="7"/>
          </c:marker>
          <c:dLbls>
            <c:txPr xmlns:a="http://schemas.openxmlformats.org/drawingml/2006/main">
              <a:bodyPr/>
              <a:lstStyle/>
              <a:p>
                <a:pPr>
                  <a:defRPr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35届</c:v>
                </c:pt>
                <c:pt idx="1">
                  <c:v>36届</c:v>
                </c:pt>
                <c:pt idx="2">
                  <c:v>37届</c:v>
                </c:pt>
                <c:pt idx="3">
                  <c:v>38届</c:v>
                </c:pt>
                <c:pt idx="4">
                  <c:v>39届</c:v>
                </c:pt>
                <c:pt idx="5">
                  <c:v>40届</c:v>
                </c:pt>
                <c:pt idx="6">
                  <c:v>41届</c:v>
                </c:pt>
                <c:pt idx="7">
                  <c:v>42届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7.69</c:v>
                </c:pt>
                <c:pt idx="1">
                  <c:v>0.0</c:v>
                </c:pt>
                <c:pt idx="2">
                  <c:v>13.64</c:v>
                </c:pt>
                <c:pt idx="3">
                  <c:v>8.0</c:v>
                </c:pt>
                <c:pt idx="4">
                  <c:v>11.11</c:v>
                </c:pt>
                <c:pt idx="5">
                  <c:v>13.89</c:v>
                </c:pt>
                <c:pt idx="6">
                  <c:v>21.88</c:v>
                </c:pt>
                <c:pt idx="7">
                  <c:v>9.68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CE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xmlns:ns0="http://schemas.openxmlformats.org/officeDocument/2006/relationships" ns0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hape-1">
            <a:extLst xmlns:a="http://schemas.openxmlformats.org/drawingml/2006/main">
              <a:ext uri="{FF2B5EF4-FFF2-40B4-BE49-F238E27FC236}">
                <a16:creationId xmlns:a16="http://schemas.microsoft.com/office/drawing/2014/main" id="{C732B214-B97D-4810-AF61-52893F87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1242E0C0-0BAF-4593-9747-9686C4A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0"/>
            <a:ext cx="857250" cy="68580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3AFFBFD-EDEB-4EC2-A226-CEC92204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"/>
            <a:ext cx="29051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硕士专业学位论文答辩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C4B33F0-9F58-4C79-9D90-84440EB1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019175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全国中学生物理竞赛复赛理论试题的
科学思维要求及教学设计启示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2EBB13E-189C-4354-B906-CDF86177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81575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答辩人：董兴习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AFA3517-C875-459F-A4A4-805327FC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48300"/>
            <a:ext cx="561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教育硕士（非全日制） · 物理课程教学论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4791E78-E93B-4D96-B8DB-04FF093F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15025"/>
            <a:ext cx="495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华东师范大学教师教育学院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ad3111aea40ed"/>
          <a:stretch xmlns:a="http://schemas.openxmlformats.org/drawingml/2006/main"/>
        </p:blipFill>
        <p:spPr>
          <a:xfrm xmlns:a="http://schemas.openxmlformats.org/drawingml/2006/main">
            <a:off x="926292" y="381000"/>
            <a:ext cx="3271866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0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25">
            <a:extLst xmlns:a="http://schemas.openxmlformats.org/drawingml/2006/main">
              <a:ext uri="{FF2B5EF4-FFF2-40B4-BE49-F238E27FC236}">
                <a16:creationId xmlns:a16="http://schemas.microsoft.com/office/drawing/2014/main" id="{2BF8EB6F-E46D-4FF2-8B75-CE7D463E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6">
            <a:extLst xmlns:a="http://schemas.openxmlformats.org/drawingml/2006/main">
              <a:ext uri="{FF2B5EF4-FFF2-40B4-BE49-F238E27FC236}">
                <a16:creationId xmlns:a16="http://schemas.microsoft.com/office/drawing/2014/main" id="{208F4C24-4D4E-4AA7-B95C-B96C8320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6E07675D-6F98-4364-AF74-F16B8167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研究缘起：把“难题”还原为可观察的思维任务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615A8B5E-ABA9-4B1C-99EA-21E3F12B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828500F9-4B2D-41B6-AC15-5A2F85A8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复赛试题的复杂性，不只来自知识跨度和计算长度，
更来自条件、模型、关系与结论的组织方式。</a:t>
            </a:r>
          </a:p>
        </p:txBody>
      </p:sp>
      <p:sp>
        <p:nvSpPr>
          <p:cNvPr id="6" name="Shape-9">
            <a:extLst xmlns:a="http://schemas.openxmlformats.org/drawingml/2006/main">
              <a:ext uri="{FF2B5EF4-FFF2-40B4-BE49-F238E27FC236}">
                <a16:creationId xmlns:a16="http://schemas.microsoft.com/office/drawing/2014/main" id="{108B0614-BE82-46D8-B114-DFE344A3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hape-10">
            <a:extLst xmlns:a="http://schemas.openxmlformats.org/drawingml/2006/main">
              <a:ext uri="{FF2B5EF4-FFF2-40B4-BE49-F238E27FC236}">
                <a16:creationId xmlns:a16="http://schemas.microsoft.com/office/drawing/2014/main" id="{4F0B64E6-1B37-43AF-9479-313F73A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8" name="Text-11">
            <a:extLst xmlns:a="http://schemas.openxmlformats.org/drawingml/2006/main">
              <a:ext uri="{FF2B5EF4-FFF2-40B4-BE49-F238E27FC236}">
                <a16:creationId xmlns:a16="http://schemas.microsoft.com/office/drawing/2014/main" id="{ADC1F6A2-D202-4503-B448-621647A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看什么</a:t>
            </a:r>
          </a:p>
        </p:txBody>
      </p:sp>
      <p:sp>
        <p:nvSpPr>
          <p:cNvPr id="9" name="Text-12">
            <a:extLst xmlns:a="http://schemas.openxmlformats.org/drawingml/2006/main">
              <a:ext uri="{FF2B5EF4-FFF2-40B4-BE49-F238E27FC236}">
                <a16:creationId xmlns:a16="http://schemas.microsoft.com/office/drawing/2014/main" id="{3D833A7C-757D-4431-AA4C-27A396CA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3852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从知识点转向认知活动</a:t>
            </a:r>
          </a:p>
        </p:txBody>
      </p:sp>
      <p:sp>
        <p:nvSpPr>
          <p:cNvPr id="10" name="Text-13">
            <a:extLst xmlns:a="http://schemas.openxmlformats.org/drawingml/2006/main">
              <a:ext uri="{FF2B5EF4-FFF2-40B4-BE49-F238E27FC236}">
                <a16:creationId xmlns:a16="http://schemas.microsoft.com/office/drawing/2014/main" id="{30E39563-729D-4616-B4FE-405061EC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识别任务真正要求学生完成什么</a:t>
            </a:r>
          </a:p>
        </p:txBody>
      </p:sp>
      <p:sp>
        <p:nvSpPr>
          <p:cNvPr id="11" name="Shape-14">
            <a:extLst xmlns:a="http://schemas.openxmlformats.org/drawingml/2006/main">
              <a:ext uri="{FF2B5EF4-FFF2-40B4-BE49-F238E27FC236}">
                <a16:creationId xmlns:a16="http://schemas.microsoft.com/office/drawing/2014/main" id="{BEBB6B4D-20F0-4F9A-A492-62021326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Shape-15">
            <a:extLst xmlns:a="http://schemas.openxmlformats.org/drawingml/2006/main">
              <a:ext uri="{FF2B5EF4-FFF2-40B4-BE49-F238E27FC236}">
                <a16:creationId xmlns:a16="http://schemas.microsoft.com/office/drawing/2014/main" id="{06AA2FDA-EB5A-477F-9A8D-F9D2955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3" name="Text-16">
            <a:extLst xmlns:a="http://schemas.openxmlformats.org/drawingml/2006/main">
              <a:ext uri="{FF2B5EF4-FFF2-40B4-BE49-F238E27FC236}">
                <a16:creationId xmlns:a16="http://schemas.microsoft.com/office/drawing/2014/main" id="{08A89E67-317E-4776-9115-1A03FAE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9082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怎么看</a:t>
            </a:r>
          </a:p>
        </p:txBody>
      </p:sp>
      <p:sp>
        <p:nvSpPr>
          <p:cNvPr id="14" name="Text-17">
            <a:extLst xmlns:a="http://schemas.openxmlformats.org/drawingml/2006/main">
              <a:ext uri="{FF2B5EF4-FFF2-40B4-BE49-F238E27FC236}">
                <a16:creationId xmlns:a16="http://schemas.microsoft.com/office/drawing/2014/main" id="{05F948C0-DD1A-4E90-B64D-6DF0CDB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3852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维度 × 等级 × 证据</a:t>
            </a:r>
          </a:p>
        </p:txBody>
      </p:sp>
      <p:sp>
        <p:nvSpPr>
          <p:cNvPr id="15" name="Text-18">
            <a:extLst xmlns:a="http://schemas.openxmlformats.org/drawingml/2006/main">
              <a:ext uri="{FF2B5EF4-FFF2-40B4-BE49-F238E27FC236}">
                <a16:creationId xmlns:a16="http://schemas.microsoft.com/office/drawing/2014/main" id="{A8C45E98-FC33-4EEF-AC04-2CF43285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8142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每个判断均回到题干与参考解答</a:t>
            </a:r>
          </a:p>
        </p:txBody>
      </p:sp>
      <p:sp>
        <p:nvSpPr>
          <p:cNvPr id="16" name="Shape-19">
            <a:extLst xmlns:a="http://schemas.openxmlformats.org/drawingml/2006/main">
              <a:ext uri="{FF2B5EF4-FFF2-40B4-BE49-F238E27FC236}">
                <a16:creationId xmlns:a16="http://schemas.microsoft.com/office/drawing/2014/main" id="{0DD3B9E2-8775-48E9-A967-57211EF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hape-20">
            <a:extLst xmlns:a="http://schemas.openxmlformats.org/drawingml/2006/main">
              <a:ext uri="{FF2B5EF4-FFF2-40B4-BE49-F238E27FC236}">
                <a16:creationId xmlns:a16="http://schemas.microsoft.com/office/drawing/2014/main" id="{6E283C0E-D3A7-4015-A384-8B4B483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8" name="Text-21">
            <a:extLst xmlns:a="http://schemas.openxmlformats.org/drawingml/2006/main">
              <a:ext uri="{FF2B5EF4-FFF2-40B4-BE49-F238E27FC236}">
                <a16:creationId xmlns:a16="http://schemas.microsoft.com/office/drawing/2014/main" id="{45F3C4B0-6BB5-4EC5-85E3-A9F8E0B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怎么教</a:t>
            </a:r>
          </a:p>
        </p:txBody>
      </p:sp>
      <p:sp>
        <p:nvSpPr>
          <p:cNvPr id="19" name="Text-22">
            <a:extLst xmlns:a="http://schemas.openxmlformats.org/drawingml/2006/main">
              <a:ext uri="{FF2B5EF4-FFF2-40B4-BE49-F238E27FC236}">
                <a16:creationId xmlns:a16="http://schemas.microsoft.com/office/drawing/2014/main" id="{9CB0D087-EA1C-402A-BB49-F5ABBD8B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3852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由统计结论落到任务设计</a:t>
            </a:r>
          </a:p>
        </p:txBody>
      </p:sp>
      <p:sp>
        <p:nvSpPr>
          <p:cNvPr id="20" name="Text-23">
            <a:extLst xmlns:a="http://schemas.openxmlformats.org/drawingml/2006/main">
              <a:ext uri="{FF2B5EF4-FFF2-40B4-BE49-F238E27FC236}">
                <a16:creationId xmlns:a16="http://schemas.microsoft.com/office/drawing/2014/main" id="{2237688C-A622-4789-A554-0368191A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8142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将思维机制改写为课堂产出</a:t>
            </a:r>
          </a:p>
        </p:txBody>
      </p:sp>
      <p:sp>
        <p:nvSpPr>
          <p:cNvPr id="21" name="Text-24">
            <a:extLst xmlns:a="http://schemas.openxmlformats.org/drawingml/2006/main">
              <a:ext uri="{FF2B5EF4-FFF2-40B4-BE49-F238E27FC236}">
                <a16:creationId xmlns:a16="http://schemas.microsoft.com/office/drawing/2014/main" id="{DF932FED-D1F9-4EE7-B037-E93006EE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研究目标：建立一套可复核、可解释、可用于教学设计的复赛试题分析路径。</a:t>
            </a:r>
          </a:p>
        </p:txBody>
      </p:sp>
      <p:sp>
        <p:nvSpPr>
          <p:cNvPr id="22" name="Text-29">
            <a:extLst xmlns:a="http://schemas.openxmlformats.org/drawingml/2006/main">
              <a:ext uri="{FF2B5EF4-FFF2-40B4-BE49-F238E27FC236}">
                <a16:creationId xmlns:a16="http://schemas.microsoft.com/office/drawing/2014/main" id="{AE99AC5D-42E4-4378-8CFF-33A117F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2905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-42">
            <a:extLst xmlns:a="http://schemas.openxmlformats.org/drawingml/2006/main">
              <a:ext uri="{FF2B5EF4-FFF2-40B4-BE49-F238E27FC236}">
                <a16:creationId xmlns:a16="http://schemas.microsoft.com/office/drawing/2014/main" id="{0F1F639D-269F-4436-9220-D12F2160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43">
            <a:extLst xmlns:a="http://schemas.openxmlformats.org/drawingml/2006/main">
              <a:ext uri="{FF2B5EF4-FFF2-40B4-BE49-F238E27FC236}">
                <a16:creationId xmlns:a16="http://schemas.microsoft.com/office/drawing/2014/main" id="{5160F002-CE49-4E41-956B-70B28AE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44">
            <a:extLst xmlns:a="http://schemas.openxmlformats.org/drawingml/2006/main">
              <a:ext uri="{FF2B5EF4-FFF2-40B4-BE49-F238E27FC236}">
                <a16:creationId xmlns:a16="http://schemas.microsoft.com/office/drawing/2014/main" id="{44A31448-08B6-4231-B56F-601660DA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研究问题</a:t>
            </a:r>
          </a:p>
        </p:txBody>
      </p:sp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CAD44178-1E44-4181-B23A-70D8B86A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4455ADBB-525C-4A2A-8842-35E3741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01</a:t>
            </a:r>
          </a:p>
        </p:txBody>
      </p:sp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D0CD4DFC-411E-420A-AFC3-E250BD1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390650"/>
            <a:ext cx="10106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四类科学思维要求在复赛试题中如何分布？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EBAED4C1-F0A4-47FC-9CC1-1CF9F621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81175"/>
            <a:ext cx="10106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统计模型建构、科学推理、科学论证与质疑创新的出现比例、等级构成和组合方式。</a:t>
            </a:r>
          </a:p>
        </p:txBody>
      </p:sp>
      <p:cxnSp>
        <p:nvCxnSpPr>
          <p:cNvPr id="25" name="Rule-33"/>
          <p:cNvCxnSpPr/>
          <p:nvPr/>
        </p:nvCxnSpPr>
        <p:spPr>
          <a:xfrm xmlns:a="http://schemas.openxmlformats.org/drawingml/2006/main">
            <a:off x="1438275" y="2362200"/>
            <a:ext cx="10106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46DE467E-62BF-45D1-BDF0-97511397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57500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02</a:t>
            </a:r>
          </a:p>
        </p:txBody>
      </p:sp>
      <p:sp>
        <p:nvSpPr>
          <p:cNvPr id="10" name="Text-35">
            <a:extLst xmlns:a="http://schemas.openxmlformats.org/drawingml/2006/main">
              <a:ext uri="{FF2B5EF4-FFF2-40B4-BE49-F238E27FC236}">
                <a16:creationId xmlns:a16="http://schemas.microsoft.com/office/drawing/2014/main" id="{D1E290F5-2803-463C-94D7-B82C3ACA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67025"/>
            <a:ext cx="10106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典型试题通过什么机制形成高认知要求？</a:t>
            </a:r>
          </a:p>
        </p:txBody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AEB5E58A-B72C-4CB8-A407-F61C414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57550"/>
            <a:ext cx="10106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回到题干、图示与参考解答，识别多对象约束、近似条件、状态分类、证据链和方案设计。</a:t>
            </a:r>
          </a:p>
        </p:txBody>
      </p:sp>
      <p:cxnSp>
        <p:nvCxnSpPr>
          <p:cNvPr id="29" name="Rule-37"/>
          <p:cNvCxnSpPr/>
          <p:nvPr/>
        </p:nvCxnSpPr>
        <p:spPr>
          <a:xfrm xmlns:a="http://schemas.openxmlformats.org/drawingml/2006/main">
            <a:off x="1438275" y="3838575"/>
            <a:ext cx="10106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CD92D8CA-E035-4B1E-AF6B-A629F6CA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33875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03</a:t>
            </a:r>
          </a:p>
        </p:txBody>
      </p:sp>
      <p:sp>
        <p:nvSpPr>
          <p:cNvPr id="14" name="Text-39">
            <a:extLst xmlns:a="http://schemas.openxmlformats.org/drawingml/2006/main">
              <a:ext uri="{FF2B5EF4-FFF2-40B4-BE49-F238E27FC236}">
                <a16:creationId xmlns:a16="http://schemas.microsoft.com/office/drawing/2014/main" id="{71D1A38E-1652-49AF-870A-F9D50C3C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43400"/>
            <a:ext cx="10106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分析结果如何转化为可实施的教学设计？</a:t>
            </a:r>
          </a:p>
        </p:txBody>
      </p: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F0C8D792-6CB2-4B5D-B817-9E439A5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33925"/>
            <a:ext cx="10106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将统计趋势改写为任务、支架、学生产出与评价标准，而非停留在原则性建议。</a:t>
            </a:r>
          </a:p>
        </p:txBody>
      </p:sp>
      <p:cxnSp>
        <p:nvCxnSpPr>
          <p:cNvPr id="33" name="Rule-41"/>
          <p:cNvCxnSpPr/>
          <p:nvPr/>
        </p:nvCxnSpPr>
        <p:spPr>
          <a:xfrm xmlns:a="http://schemas.openxmlformats.org/drawingml/2006/main">
            <a:off x="1438275" y="5314950"/>
            <a:ext cx="10106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7" name="Text-46">
            <a:extLst xmlns:a="http://schemas.openxmlformats.org/drawingml/2006/main">
              <a:ext uri="{FF2B5EF4-FFF2-40B4-BE49-F238E27FC236}">
                <a16:creationId xmlns:a16="http://schemas.microsoft.com/office/drawing/2014/main" id="{1296C8E3-4FDA-4A60-B3C6-EA8DCB18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9584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hape-80">
            <a:extLst xmlns:a="http://schemas.openxmlformats.org/drawingml/2006/main">
              <a:ext uri="{FF2B5EF4-FFF2-40B4-BE49-F238E27FC236}">
                <a16:creationId xmlns:a16="http://schemas.microsoft.com/office/drawing/2014/main" id="{FEE7199F-C86B-435B-856E-620F6C4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81">
            <a:extLst xmlns:a="http://schemas.openxmlformats.org/drawingml/2006/main">
              <a:ext uri="{FF2B5EF4-FFF2-40B4-BE49-F238E27FC236}">
                <a16:creationId xmlns:a16="http://schemas.microsoft.com/office/drawing/2014/main" id="{F19B6A69-189A-473B-96BC-31949721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1C0290C8-ED6E-4D26-BCEF-A1FF11F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研究对象与数据结构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A374730F-9957-4FC3-99A9-7B5FB6E0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47">
            <a:extLst xmlns:a="http://schemas.openxmlformats.org/drawingml/2006/main">
              <a:ext uri="{FF2B5EF4-FFF2-40B4-BE49-F238E27FC236}">
                <a16:creationId xmlns:a16="http://schemas.microsoft.com/office/drawing/2014/main" id="{212E2ED2-18B2-4FCA-A6C5-8D512E68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23975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-48">
            <a:extLst xmlns:a="http://schemas.openxmlformats.org/drawingml/2006/main">
              <a:ext uri="{FF2B5EF4-FFF2-40B4-BE49-F238E27FC236}">
                <a16:creationId xmlns:a16="http://schemas.microsoft.com/office/drawing/2014/main" id="{0461BC33-30E2-443E-8A2E-C65D0606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239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767E6D26-C121-4112-AA76-64DBCCC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2162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8 届</a:t>
            </a:r>
          </a:p>
        </p:txBody>
      </p:sp>
      <p:sp>
        <p:nvSpPr>
          <p:cNvPr id="8" name="Text-50">
            <a:extLst xmlns:a="http://schemas.openxmlformats.org/drawingml/2006/main">
              <a:ext uri="{FF2B5EF4-FFF2-40B4-BE49-F238E27FC236}">
                <a16:creationId xmlns:a16="http://schemas.microsoft.com/office/drawing/2014/main" id="{3E0EF9E3-CA89-4051-ADCE-7850C572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90750"/>
            <a:ext cx="21621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第35—42届</a:t>
            </a:r>
          </a:p>
        </p:txBody>
      </p:sp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691E7271-B130-4F89-9283-94D31BD1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33650"/>
            <a:ext cx="21621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2018—2025年复赛理论试题</a:t>
            </a:r>
          </a:p>
        </p:txBody>
      </p:sp>
      <p:sp>
        <p:nvSpPr>
          <p:cNvPr id="10" name="Shape-52">
            <a:extLst xmlns:a="http://schemas.openxmlformats.org/drawingml/2006/main">
              <a:ext uri="{FF2B5EF4-FFF2-40B4-BE49-F238E27FC236}">
                <a16:creationId xmlns:a16="http://schemas.microsoft.com/office/drawing/2014/main" id="{AFB6794F-AF52-454E-B2D8-3BB99F13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23975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hape-53">
            <a:extLst xmlns:a="http://schemas.openxmlformats.org/drawingml/2006/main">
              <a:ext uri="{FF2B5EF4-FFF2-40B4-BE49-F238E27FC236}">
                <a16:creationId xmlns:a16="http://schemas.microsoft.com/office/drawing/2014/main" id="{F0EDE2A1-43A6-44D9-80C6-239DF694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239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38A4E3E4-B5ED-4778-AD3D-1DA5C21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543050"/>
            <a:ext cx="2162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60 题</a:t>
            </a:r>
          </a:p>
        </p:txBody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AA0B047D-A2C7-462C-B915-3D1CA34F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90750"/>
            <a:ext cx="21621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大题层语料</a:t>
            </a:r>
          </a:p>
        </p:txBody>
      </p:sp>
      <p:sp>
        <p:nvSpPr>
          <p:cNvPr id="14" name="Text-56">
            <a:extLst xmlns:a="http://schemas.openxmlformats.org/drawingml/2006/main">
              <a:ext uri="{FF2B5EF4-FFF2-40B4-BE49-F238E27FC236}">
                <a16:creationId xmlns:a16="http://schemas.microsoft.com/office/drawing/2014/main" id="{D9E88E7B-2618-4503-91D7-B59FC143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21621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保留完整题目情境与图示</a:t>
            </a:r>
          </a:p>
        </p:txBody>
      </p:sp>
      <p:sp>
        <p:nvSpPr>
          <p:cNvPr id="15" name="Shape-57">
            <a:extLst xmlns:a="http://schemas.openxmlformats.org/drawingml/2006/main">
              <a:ext uri="{FF2B5EF4-FFF2-40B4-BE49-F238E27FC236}">
                <a16:creationId xmlns:a16="http://schemas.microsoft.com/office/drawing/2014/main" id="{A4929B07-DF13-4F8E-8D70-6FD6ABCA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23975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Shape-58">
            <a:extLst xmlns:a="http://schemas.openxmlformats.org/drawingml/2006/main">
              <a:ext uri="{FF2B5EF4-FFF2-40B4-BE49-F238E27FC236}">
                <a16:creationId xmlns:a16="http://schemas.microsoft.com/office/drawing/2014/main" id="{CD695BF9-1050-4A70-BAA1-F175F8BB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239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B3F15DD8-5457-4E12-9246-F0393AC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43050"/>
            <a:ext cx="2162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221</a:t>
            </a:r>
          </a:p>
        </p:txBody>
      </p:sp>
      <p:sp>
        <p:nvSpPr>
          <p:cNvPr id="18" name="Text-60">
            <a:extLst xmlns:a="http://schemas.openxmlformats.org/drawingml/2006/main">
              <a:ext uri="{FF2B5EF4-FFF2-40B4-BE49-F238E27FC236}">
                <a16:creationId xmlns:a16="http://schemas.microsoft.com/office/drawing/2014/main" id="{12EA71AD-B970-4EF9-8FCB-196B24C5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90750"/>
            <a:ext cx="21621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分析单元</a:t>
            </a:r>
          </a:p>
        </p:txBody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146BA27D-9E24-4E78-A7A3-A2F2BD07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3650"/>
            <a:ext cx="21621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按可独立判断的任务切分</a:t>
            </a:r>
          </a:p>
        </p:txBody>
      </p:sp>
      <p:sp>
        <p:nvSpPr>
          <p:cNvPr id="20" name="Shape-62">
            <a:extLst xmlns:a="http://schemas.openxmlformats.org/drawingml/2006/main">
              <a:ext uri="{FF2B5EF4-FFF2-40B4-BE49-F238E27FC236}">
                <a16:creationId xmlns:a16="http://schemas.microsoft.com/office/drawing/2014/main" id="{C0CEB4FB-D3AF-48C5-B9FE-A3D76541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23975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hape-63">
            <a:extLst xmlns:a="http://schemas.openxmlformats.org/drawingml/2006/main">
              <a:ext uri="{FF2B5EF4-FFF2-40B4-BE49-F238E27FC236}">
                <a16:creationId xmlns:a16="http://schemas.microsoft.com/office/drawing/2014/main" id="{7DF2730D-9C8F-4943-9D33-B60490BD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2397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D854CD9C-D11E-46E3-BCC0-70C75EA3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43050"/>
            <a:ext cx="2162175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F6B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884</a:t>
            </a:r>
          </a:p>
        </p:txBody>
      </p:sp>
      <p:sp>
        <p:nvSpPr>
          <p:cNvPr id="23" name="Text-65">
            <a:extLst xmlns:a="http://schemas.openxmlformats.org/drawingml/2006/main">
              <a:ext uri="{FF2B5EF4-FFF2-40B4-BE49-F238E27FC236}">
                <a16:creationId xmlns:a16="http://schemas.microsoft.com/office/drawing/2014/main" id="{B17AAFA2-6DD9-4BBA-AA3E-06E4A404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1621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正式编码记录</a:t>
            </a:r>
          </a:p>
        </p:txBody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E484E79E-DA22-4E43-B4C4-DC638689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33650"/>
            <a:ext cx="21621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221单元 × 4个维度</a:t>
            </a:r>
          </a:p>
        </p:txBody>
      </p:sp>
      <p:sp>
        <p:nvSpPr>
          <p:cNvPr id="25" name="Text-67">
            <a:extLst xmlns:a="http://schemas.openxmlformats.org/drawingml/2006/main">
              <a:ext uri="{FF2B5EF4-FFF2-40B4-BE49-F238E27FC236}">
                <a16:creationId xmlns:a16="http://schemas.microsoft.com/office/drawing/2014/main" id="{56073B45-3B43-41B5-992A-954DC1EA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语料组织</a:t>
            </a:r>
          </a:p>
        </p:txBody>
      </p:sp>
      <p:cxnSp>
        <p:nvCxnSpPr>
          <p:cNvPr id="64" name="Rule-68"/>
          <p:cNvCxnSpPr/>
          <p:nvPr/>
        </p:nvCxnSpPr>
        <p:spPr>
          <a:xfrm xmlns:a="http://schemas.openxmlformats.org/drawingml/2006/main">
            <a:off x="523875" y="4171950"/>
            <a:ext cx="106203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D9D9"/>
            </a:solidFill>
            <a:prstDash val="solid"/>
          </a:ln>
        </p:spPr>
      </p:cxnSp>
      <p:sp>
        <p:nvSpPr>
          <p:cNvPr id="27" name="Dot-69">
            <a:extLst xmlns:a="http://schemas.openxmlformats.org/drawingml/2006/main">
              <a:ext uri="{FF2B5EF4-FFF2-40B4-BE49-F238E27FC236}">
                <a16:creationId xmlns:a16="http://schemas.microsoft.com/office/drawing/2014/main" id="{16FAB4F1-15CA-41B7-B245-AD80112C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28" name="Dot-70">
            <a:extLst xmlns:a="http://schemas.openxmlformats.org/drawingml/2006/main">
              <a:ext uri="{FF2B5EF4-FFF2-40B4-BE49-F238E27FC236}">
                <a16:creationId xmlns:a16="http://schemas.microsoft.com/office/drawing/2014/main" id="{6389C866-2FF0-46FD-BAA6-44280F6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05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29" name="Dot-71">
            <a:extLst xmlns:a="http://schemas.openxmlformats.org/drawingml/2006/main">
              <a:ext uri="{FF2B5EF4-FFF2-40B4-BE49-F238E27FC236}">
                <a16:creationId xmlns:a16="http://schemas.microsoft.com/office/drawing/2014/main" id="{BE5D84BD-6846-42A1-A8F1-1BD364CD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05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0" name="Dot-72">
            <a:extLst xmlns:a="http://schemas.openxmlformats.org/drawingml/2006/main">
              <a:ext uri="{FF2B5EF4-FFF2-40B4-BE49-F238E27FC236}">
                <a16:creationId xmlns:a16="http://schemas.microsoft.com/office/drawing/2014/main" id="{A93FE3AF-2F11-46D7-B72B-40B9952F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1" name="Dot-73">
            <a:extLst xmlns:a="http://schemas.openxmlformats.org/drawingml/2006/main">
              <a:ext uri="{FF2B5EF4-FFF2-40B4-BE49-F238E27FC236}">
                <a16:creationId xmlns:a16="http://schemas.microsoft.com/office/drawing/2014/main" id="{2285CF74-DFB1-4DE8-A489-59461DB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1052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2" name="Text-74">
            <a:extLst xmlns:a="http://schemas.openxmlformats.org/drawingml/2006/main">
              <a:ext uri="{FF2B5EF4-FFF2-40B4-BE49-F238E27FC236}">
                <a16:creationId xmlns:a16="http://schemas.microsoft.com/office/drawing/2014/main" id="{E95615A1-BDDC-43D4-80E1-18D2DE91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38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原始试题与解答</a:t>
            </a:r>
          </a:p>
        </p:txBody>
      </p:sp>
      <p:sp>
        <p:nvSpPr>
          <p:cNvPr id="33" name="Text-75">
            <a:extLst xmlns:a="http://schemas.openxmlformats.org/drawingml/2006/main">
              <a:ext uri="{FF2B5EF4-FFF2-40B4-BE49-F238E27FC236}">
                <a16:creationId xmlns:a16="http://schemas.microsoft.com/office/drawing/2014/main" id="{6BA40361-B480-4EEE-976D-970EE661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题干/解析文本层</a:t>
            </a:r>
          </a:p>
        </p:txBody>
      </p:sp>
      <p:sp>
        <p:nvSpPr>
          <p:cNvPr id="34" name="Text-76">
            <a:extLst xmlns:a="http://schemas.openxmlformats.org/drawingml/2006/main">
              <a:ext uri="{FF2B5EF4-FFF2-40B4-BE49-F238E27FC236}">
                <a16:creationId xmlns:a16="http://schemas.microsoft.com/office/drawing/2014/main" id="{1FBD90A3-CFA6-4E61-BE82-78F53450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38650"/>
            <a:ext cx="190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分析单元切分</a:t>
            </a:r>
          </a:p>
        </p:txBody>
      </p:sp>
      <p:sp>
        <p:nvSpPr>
          <p:cNvPr id="35" name="Text-77">
            <a:extLst xmlns:a="http://schemas.openxmlformats.org/drawingml/2006/main">
              <a:ext uri="{FF2B5EF4-FFF2-40B4-BE49-F238E27FC236}">
                <a16:creationId xmlns:a16="http://schemas.microsoft.com/office/drawing/2014/main" id="{0AB1538D-1282-4D4F-8B03-04BCDC7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四维编码</a:t>
            </a:r>
          </a:p>
        </p:txBody>
      </p:sp>
      <p:sp>
        <p:nvSpPr>
          <p:cNvPr id="36" name="Text-78">
            <a:extLst xmlns:a="http://schemas.openxmlformats.org/drawingml/2006/main">
              <a:ext uri="{FF2B5EF4-FFF2-40B4-BE49-F238E27FC236}">
                <a16:creationId xmlns:a16="http://schemas.microsoft.com/office/drawing/2014/main" id="{A1D1B4DB-1F27-4C86-86E5-62BDB0B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3865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统计与案例解释</a:t>
            </a:r>
          </a:p>
        </p:txBody>
      </p:sp>
      <p:sp>
        <p:nvSpPr>
          <p:cNvPr id="37" name="Text-79">
            <a:extLst xmlns:a="http://schemas.openxmlformats.org/drawingml/2006/main">
              <a:ext uri="{FF2B5EF4-FFF2-40B4-BE49-F238E27FC236}">
                <a16:creationId xmlns:a16="http://schemas.microsoft.com/office/drawing/2014/main" id="{7E306E48-53BD-45F1-914C-CDA5BEFD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34000"/>
            <a:ext cx="106203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补充以209个原始小问和60道大题为权重进行敏感性分析。</a:t>
            </a:r>
          </a:p>
        </p:txBody>
      </p:sp>
      <p:sp>
        <p:nvSpPr>
          <p:cNvPr id="38" name="Text-84">
            <a:extLst xmlns:a="http://schemas.openxmlformats.org/drawingml/2006/main">
              <a:ext uri="{FF2B5EF4-FFF2-40B4-BE49-F238E27FC236}">
                <a16:creationId xmlns:a16="http://schemas.microsoft.com/office/drawing/2014/main" id="{A62B4A1C-89FE-46AC-8743-C4408A07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2720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-107">
            <a:extLst xmlns:a="http://schemas.openxmlformats.org/drawingml/2006/main">
              <a:ext uri="{FF2B5EF4-FFF2-40B4-BE49-F238E27FC236}">
                <a16:creationId xmlns:a16="http://schemas.microsoft.com/office/drawing/2014/main" id="{D0314BCC-0226-4BF4-9733-FB4E59C3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108">
            <a:extLst xmlns:a="http://schemas.openxmlformats.org/drawingml/2006/main">
              <a:ext uri="{FF2B5EF4-FFF2-40B4-BE49-F238E27FC236}">
                <a16:creationId xmlns:a16="http://schemas.microsoft.com/office/drawing/2014/main" id="{66BDFC89-13EE-48B8-B8A5-7DC3EBBD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AB8B0891-D910-47D4-935C-B8BECF8E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分析框架：四个维度回答四类不同问题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8846FA9A-4E55-40A3-983F-434BD36E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85">
            <a:extLst xmlns:a="http://schemas.openxmlformats.org/drawingml/2006/main">
              <a:ext uri="{FF2B5EF4-FFF2-40B4-BE49-F238E27FC236}">
                <a16:creationId xmlns:a16="http://schemas.microsoft.com/office/drawing/2014/main" id="{F4BAB178-BF06-4ED0-AB9E-8A0C0BA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85875"/>
            <a:ext cx="5314950" cy="1876425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-86">
            <a:extLst xmlns:a="http://schemas.openxmlformats.org/drawingml/2006/main">
              <a:ext uri="{FF2B5EF4-FFF2-40B4-BE49-F238E27FC236}">
                <a16:creationId xmlns:a16="http://schemas.microsoft.com/office/drawing/2014/main" id="{70BB33C0-C372-4F98-943F-2F7887B2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85875"/>
            <a:ext cx="85725" cy="1876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7" name="Text-87">
            <a:extLst xmlns:a="http://schemas.openxmlformats.org/drawingml/2006/main">
              <a:ext uri="{FF2B5EF4-FFF2-40B4-BE49-F238E27FC236}">
                <a16:creationId xmlns:a16="http://schemas.microsoft.com/office/drawing/2014/main" id="{106706EE-55B8-4040-BCE9-810A15D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模型建构</a:t>
            </a:r>
          </a:p>
        </p:txBody>
      </p:sp>
      <p:sp>
        <p:nvSpPr>
          <p:cNvPr id="8" name="Text-88">
            <a:extLst xmlns:a="http://schemas.openxmlformats.org/drawingml/2006/main">
              <a:ext uri="{FF2B5EF4-FFF2-40B4-BE49-F238E27FC236}">
                <a16:creationId xmlns:a16="http://schemas.microsoft.com/office/drawing/2014/main" id="{840EEFEA-0E50-4038-97B1-C829CED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5430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研究对象怎样被表征？</a:t>
            </a:r>
          </a:p>
        </p:txBody>
      </p:sp>
      <p:sp>
        <p:nvSpPr>
          <p:cNvPr id="9" name="Text-89">
            <a:extLst xmlns:a="http://schemas.openxmlformats.org/drawingml/2006/main">
              <a:ext uri="{FF2B5EF4-FFF2-40B4-BE49-F238E27FC236}">
                <a16:creationId xmlns:a16="http://schemas.microsoft.com/office/drawing/2014/main" id="{451626A5-2226-431D-9D35-64320C6B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识别系统、变量、边界与理想化条件，</a:t>
            </a:r>
            <a:br/>
            <a:r>
              <a:rPr>
                <a:latin typeface="Arial Unicode MS"/>
              </a:rPr>
              <a:t>选择、建立或调整物理模型。</a:t>
            </a:r>
          </a:p>
        </p:txBody>
      </p:sp>
      <p:sp>
        <p:nvSpPr>
          <p:cNvPr id="10" name="Shape-90">
            <a:extLst xmlns:a="http://schemas.openxmlformats.org/drawingml/2006/main">
              <a:ext uri="{FF2B5EF4-FFF2-40B4-BE49-F238E27FC236}">
                <a16:creationId xmlns:a16="http://schemas.microsoft.com/office/drawing/2014/main" id="{6E3ED2E6-58D1-4D91-966A-805F9913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5314950" cy="1876425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hape-91">
            <a:extLst xmlns:a="http://schemas.openxmlformats.org/drawingml/2006/main">
              <a:ext uri="{FF2B5EF4-FFF2-40B4-BE49-F238E27FC236}">
                <a16:creationId xmlns:a16="http://schemas.microsoft.com/office/drawing/2014/main" id="{D2CDAD9B-95A2-4C84-A1F2-52830AB8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85875"/>
            <a:ext cx="85725" cy="1876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EF1B83F3-B13F-486D-9930-77B22BF4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95425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科学推理</a:t>
            </a:r>
          </a:p>
        </p:txBody>
      </p:sp>
      <p:sp>
        <p:nvSpPr>
          <p:cNvPr id="13" name="Text-93">
            <a:extLst xmlns:a="http://schemas.openxmlformats.org/drawingml/2006/main">
              <a:ext uri="{FF2B5EF4-FFF2-40B4-BE49-F238E27FC236}">
                <a16:creationId xmlns:a16="http://schemas.microsoft.com/office/drawing/2014/main" id="{1C949794-7767-4AD3-8105-3DB6DF1F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430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条件怎样通向结论？</a:t>
            </a:r>
          </a:p>
        </p:txBody>
      </p:sp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D7ECC941-895D-4B8F-81D4-92E3CF67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9775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组织条件、定律和数学关系，形成从前提到结论的推理链。</a:t>
            </a:r>
          </a:p>
        </p:txBody>
      </p:sp>
      <p:sp>
        <p:nvSpPr>
          <p:cNvPr id="15" name="Shape-95">
            <a:extLst xmlns:a="http://schemas.openxmlformats.org/drawingml/2006/main">
              <a:ext uri="{FF2B5EF4-FFF2-40B4-BE49-F238E27FC236}">
                <a16:creationId xmlns:a16="http://schemas.microsoft.com/office/drawing/2014/main" id="{E0DFDE69-08B6-442D-8752-BFF4E0D5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5314950" cy="1876425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Shape-96">
            <a:extLst xmlns:a="http://schemas.openxmlformats.org/drawingml/2006/main">
              <a:ext uri="{FF2B5EF4-FFF2-40B4-BE49-F238E27FC236}">
                <a16:creationId xmlns:a16="http://schemas.microsoft.com/office/drawing/2014/main" id="{1F6427A1-682A-4BB0-8162-0700FAC6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429000"/>
            <a:ext cx="85725" cy="1876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7" name="Text-97">
            <a:extLst xmlns:a="http://schemas.openxmlformats.org/drawingml/2006/main">
              <a:ext uri="{FF2B5EF4-FFF2-40B4-BE49-F238E27FC236}">
                <a16:creationId xmlns:a16="http://schemas.microsoft.com/office/drawing/2014/main" id="{A2F661DF-764A-4113-95F9-B6497D2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科学论证</a:t>
            </a:r>
          </a:p>
        </p:txBody>
      </p:sp>
      <p:sp>
        <p:nvSpPr>
          <p:cNvPr id="18" name="Text-98">
            <a:extLst xmlns:a="http://schemas.openxmlformats.org/drawingml/2006/main">
              <a:ext uri="{FF2B5EF4-FFF2-40B4-BE49-F238E27FC236}">
                <a16:creationId xmlns:a16="http://schemas.microsoft.com/office/drawing/2014/main" id="{A2B378AA-1E50-471F-BDDE-7BC9F5CF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86175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结论凭什么成立？</a:t>
            </a:r>
          </a:p>
        </p:txBody>
      </p:sp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CC0F3EF2-FFBE-4972-9929-5267FCE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围绕主张组织证据与理由，</a:t>
            </a:r>
            <a:br/>
            <a:r>
              <a:rPr>
                <a:latin typeface="Arial Unicode MS"/>
              </a:rPr>
              <a:t>进行比较、检验、边界分析或辩护。</a:t>
            </a:r>
          </a:p>
        </p:txBody>
      </p:sp>
      <p:sp>
        <p:nvSpPr>
          <p:cNvPr id="20" name="Shape-100">
            <a:extLst xmlns:a="http://schemas.openxmlformats.org/drawingml/2006/main">
              <a:ext uri="{FF2B5EF4-FFF2-40B4-BE49-F238E27FC236}">
                <a16:creationId xmlns:a16="http://schemas.microsoft.com/office/drawing/2014/main" id="{782E14AB-2E3C-4287-AA55-17D54323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314950" cy="1876425"/>
          </a:xfrm>
          <a:prstGeom xmlns:a="http://schemas.openxmlformats.org/drawingml/2006/main" prst="roundRect">
            <a:avLst>
              <a:gd name="adj" fmla="val 4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hape-101">
            <a:extLst xmlns:a="http://schemas.openxmlformats.org/drawingml/2006/main">
              <a:ext uri="{FF2B5EF4-FFF2-40B4-BE49-F238E27FC236}">
                <a16:creationId xmlns:a16="http://schemas.microsoft.com/office/drawing/2014/main" id="{999059B8-D254-46D6-BD68-4FC14A41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85725" cy="18764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22" name="Text-102">
            <a:extLst xmlns:a="http://schemas.openxmlformats.org/drawingml/2006/main">
              <a:ext uri="{FF2B5EF4-FFF2-40B4-BE49-F238E27FC236}">
                <a16:creationId xmlns:a16="http://schemas.microsoft.com/office/drawing/2014/main" id="{46C03415-7604-4B51-9046-26CE271D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F6B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质疑创新</a:t>
            </a:r>
          </a:p>
        </p:txBody>
      </p:sp>
      <p:sp>
        <p:nvSpPr>
          <p:cNvPr id="23" name="Text-103">
            <a:extLst xmlns:a="http://schemas.openxmlformats.org/drawingml/2006/main">
              <a:ext uri="{FF2B5EF4-FFF2-40B4-BE49-F238E27FC236}">
                <a16:creationId xmlns:a16="http://schemas.microsoft.com/office/drawing/2014/main" id="{A38D1290-DFF2-4EB5-9154-0709BC01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86175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还能怎样改变与重构？</a:t>
            </a:r>
          </a:p>
        </p:txBody>
      </p:sp>
      <p:sp>
        <p:nvSpPr>
          <p:cNvPr id="24" name="Text-104">
            <a:extLst xmlns:a="http://schemas.openxmlformats.org/drawingml/2006/main">
              <a:ext uri="{FF2B5EF4-FFF2-40B4-BE49-F238E27FC236}">
                <a16:creationId xmlns:a16="http://schemas.microsoft.com/office/drawing/2014/main" id="{697DF986-C6BF-4B9C-8993-251B181B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52900"/>
            <a:ext cx="4762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评价假设局限、比较替代方案，</a:t>
            </a:r>
            <a:br/>
            <a:r>
              <a:rPr>
                <a:latin typeface="Arial Unicode MS"/>
              </a:rPr>
              <a:t>修正模型或提出开放性设计。</a:t>
            </a:r>
          </a:p>
        </p:txBody>
      </p:sp>
      <p:sp>
        <p:nvSpPr>
          <p:cNvPr id="25" name="Shape-105">
            <a:extLst xmlns:a="http://schemas.openxmlformats.org/drawingml/2006/main">
              <a:ext uri="{FF2B5EF4-FFF2-40B4-BE49-F238E27FC236}">
                <a16:creationId xmlns:a16="http://schemas.microsoft.com/office/drawing/2014/main" id="{A2E67B9F-030A-42A6-B9E0-AAD45EF8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106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26" name="Text-106">
            <a:extLst xmlns:a="http://schemas.openxmlformats.org/drawingml/2006/main">
              <a:ext uri="{FF2B5EF4-FFF2-40B4-BE49-F238E27FC236}">
                <a16:creationId xmlns:a16="http://schemas.microsoft.com/office/drawing/2014/main" id="{2F795D05-49C7-4EE2-A10B-B3C5923E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06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维度回答“做什么”；等级回答“这些关系组织到什么程度”。二者不等同于知识点、分值或公式数量。</a:t>
            </a:r>
          </a:p>
        </p:txBody>
      </p:sp>
      <p:sp>
        <p:nvSpPr>
          <p:cNvPr id="27" name="Text-111">
            <a:extLst xmlns:a="http://schemas.openxmlformats.org/drawingml/2006/main">
              <a:ext uri="{FF2B5EF4-FFF2-40B4-BE49-F238E27FC236}">
                <a16:creationId xmlns:a16="http://schemas.microsoft.com/office/drawing/2014/main" id="{4BCFAE7A-A4E6-484A-A98D-D67F8B87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87827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-136">
            <a:extLst xmlns:a="http://schemas.openxmlformats.org/drawingml/2006/main">
              <a:ext uri="{FF2B5EF4-FFF2-40B4-BE49-F238E27FC236}">
                <a16:creationId xmlns:a16="http://schemas.microsoft.com/office/drawing/2014/main" id="{6C15A9B7-10AA-494E-8297-059830F8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137">
            <a:extLst xmlns:a="http://schemas.openxmlformats.org/drawingml/2006/main">
              <a:ext uri="{FF2B5EF4-FFF2-40B4-BE49-F238E27FC236}">
                <a16:creationId xmlns:a16="http://schemas.microsoft.com/office/drawing/2014/main" id="{2175C4D0-93AB-4CB0-9998-BC9F649B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8970E68F-832A-48FC-8BB2-176701E2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研究方法：从任务切分到可追溯结论</a:t>
            </a:r>
          </a:p>
        </p:txBody>
      </p:sp>
      <p:sp>
        <p:nvSpPr>
          <p:cNvPr id="4" name="Text-139">
            <a:extLst xmlns:a="http://schemas.openxmlformats.org/drawingml/2006/main">
              <a:ext uri="{FF2B5EF4-FFF2-40B4-BE49-F238E27FC236}">
                <a16:creationId xmlns:a16="http://schemas.microsoft.com/office/drawing/2014/main" id="{3265FBAD-D0D1-46BB-9D6C-4367ACB8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cxnSp>
        <p:nvCxnSpPr>
          <p:cNvPr id="34" name="Rule-112"/>
          <p:cNvCxnSpPr/>
          <p:nvPr/>
        </p:nvCxnSpPr>
        <p:spPr>
          <a:xfrm xmlns:a="http://schemas.openxmlformats.org/drawingml/2006/main">
            <a:off x="762000" y="2352675"/>
            <a:ext cx="10477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Dot-113">
            <a:extLst xmlns:a="http://schemas.openxmlformats.org/drawingml/2006/main">
              <a:ext uri="{FF2B5EF4-FFF2-40B4-BE49-F238E27FC236}">
                <a16:creationId xmlns:a16="http://schemas.microsoft.com/office/drawing/2014/main" id="{03D2ACCA-84CD-4987-846C-1F83ECDE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00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  <p:txBody xmlns:a="http://schemas.openxmlformats.org/drawingml/2006/main">
          <a:bodyPr/>
          <a:p/>
        </p:txBody>
      </p:sp>
      <p:sp>
        <p:nvSpPr>
          <p:cNvPr id="7" name="Text-114">
            <a:extLst xmlns:a="http://schemas.openxmlformats.org/drawingml/2006/main">
              <a:ext uri="{FF2B5EF4-FFF2-40B4-BE49-F238E27FC236}">
                <a16:creationId xmlns:a16="http://schemas.microsoft.com/office/drawing/2014/main" id="{5F1DF593-4ECB-43C0-87CC-D652AD53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19325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</a:t>
            </a:r>
          </a:p>
        </p:txBody>
      </p:sp>
      <p:sp>
        <p:nvSpPr>
          <p:cNvPr id="8" name="Text-115">
            <a:extLst xmlns:a="http://schemas.openxmlformats.org/drawingml/2006/main">
              <a:ext uri="{FF2B5EF4-FFF2-40B4-BE49-F238E27FC236}">
                <a16:creationId xmlns:a16="http://schemas.microsoft.com/office/drawing/2014/main" id="{E093707B-0253-44DA-A6A9-51B1F61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57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确定分析单元</a:t>
            </a:r>
          </a:p>
        </p:txBody>
      </p:sp>
      <p:sp>
        <p:nvSpPr>
          <p:cNvPr id="9" name="Text-116">
            <a:extLst xmlns:a="http://schemas.openxmlformats.org/drawingml/2006/main">
              <a:ext uri="{FF2B5EF4-FFF2-40B4-BE49-F238E27FC236}">
                <a16:creationId xmlns:a16="http://schemas.microsoft.com/office/drawing/2014/main" id="{82A2CD5F-1E6C-4A34-BC11-A9D45D25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17621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一行对应一个</a:t>
            </a:r>
            <a:br/>
            <a:r>
              <a:rPr>
                <a:latin typeface="Arial Unicode MS"/>
              </a:rPr>
              <a:t>可独立判断的任务</a:t>
            </a:r>
          </a:p>
        </p:txBody>
      </p:sp>
      <p:sp>
        <p:nvSpPr>
          <p:cNvPr id="10" name="Dot-117">
            <a:extLst xmlns:a="http://schemas.openxmlformats.org/drawingml/2006/main">
              <a:ext uri="{FF2B5EF4-FFF2-40B4-BE49-F238E27FC236}">
                <a16:creationId xmlns:a16="http://schemas.microsoft.com/office/drawing/2014/main" id="{91A395AF-8E6C-4633-B051-E26E5EA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00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  <p:txBody xmlns:a="http://schemas.openxmlformats.org/drawingml/2006/main">
          <a:bodyPr/>
          <a:p/>
        </p:txBody>
      </p:sp>
      <p:sp>
        <p:nvSpPr>
          <p:cNvPr id="11" name="Text-118">
            <a:extLst xmlns:a="http://schemas.openxmlformats.org/drawingml/2006/main">
              <a:ext uri="{FF2B5EF4-FFF2-40B4-BE49-F238E27FC236}">
                <a16:creationId xmlns:a16="http://schemas.microsoft.com/office/drawing/2014/main" id="{CFA1EA7C-BAA2-47B2-84CE-AC80E2C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219325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</a:t>
            </a:r>
          </a:p>
        </p:txBody>
      </p:sp>
      <p:sp>
        <p:nvSpPr>
          <p:cNvPr id="12" name="Text-119">
            <a:extLst xmlns:a="http://schemas.openxmlformats.org/drawingml/2006/main">
              <a:ext uri="{FF2B5EF4-FFF2-40B4-BE49-F238E27FC236}">
                <a16:creationId xmlns:a16="http://schemas.microsoft.com/office/drawing/2014/main" id="{4024DD86-E52B-4134-8D47-F9132BA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157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四维逐项编码</a:t>
            </a:r>
          </a:p>
        </p:txBody>
      </p:sp>
      <p:sp>
        <p:nvSpPr>
          <p:cNvPr id="13" name="Text-120">
            <a:extLst xmlns:a="http://schemas.openxmlformats.org/drawingml/2006/main">
              <a:ext uri="{FF2B5EF4-FFF2-40B4-BE49-F238E27FC236}">
                <a16:creationId xmlns:a16="http://schemas.microsoft.com/office/drawing/2014/main" id="{4B8E2444-D819-4FDE-BADA-B5921EE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09950"/>
            <a:ext cx="17621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出现性、等级与</a:t>
            </a:r>
            <a:br/>
            <a:r>
              <a:rPr>
                <a:latin typeface="Arial Unicode MS"/>
              </a:rPr>
              <a:t>相邻等级排除</a:t>
            </a:r>
          </a:p>
        </p:txBody>
      </p:sp>
      <p:sp>
        <p:nvSpPr>
          <p:cNvPr id="14" name="Dot-121">
            <a:extLst xmlns:a="http://schemas.openxmlformats.org/drawingml/2006/main">
              <a:ext uri="{FF2B5EF4-FFF2-40B4-BE49-F238E27FC236}">
                <a16:creationId xmlns:a16="http://schemas.microsoft.com/office/drawing/2014/main" id="{E256E6F7-EEF1-4FE1-893E-E39EED03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00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  <p:txBody xmlns:a="http://schemas.openxmlformats.org/drawingml/2006/main">
          <a:bodyPr/>
          <a:p/>
        </p:txBody>
      </p:sp>
      <p:sp>
        <p:nvSpPr>
          <p:cNvPr id="15" name="Text-122">
            <a:extLst xmlns:a="http://schemas.openxmlformats.org/drawingml/2006/main">
              <a:ext uri="{FF2B5EF4-FFF2-40B4-BE49-F238E27FC236}">
                <a16:creationId xmlns:a16="http://schemas.microsoft.com/office/drawing/2014/main" id="{98728893-1714-48FA-B63E-AE55357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19325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</a:t>
            </a:r>
          </a:p>
        </p:txBody>
      </p:sp>
      <p:sp>
        <p:nvSpPr>
          <p:cNvPr id="16" name="Text-123">
            <a:extLst xmlns:a="http://schemas.openxmlformats.org/drawingml/2006/main">
              <a:ext uri="{FF2B5EF4-FFF2-40B4-BE49-F238E27FC236}">
                <a16:creationId xmlns:a16="http://schemas.microsoft.com/office/drawing/2014/main" id="{3232B482-E1DF-4D09-BCB7-0DC7308E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157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回到双端证据</a:t>
            </a:r>
          </a:p>
        </p:txBody>
      </p:sp>
      <p:sp>
        <p:nvSpPr>
          <p:cNvPr id="17" name="Text-124">
            <a:extLst xmlns:a="http://schemas.openxmlformats.org/drawingml/2006/main">
              <a:ext uri="{FF2B5EF4-FFF2-40B4-BE49-F238E27FC236}">
                <a16:creationId xmlns:a16="http://schemas.microsoft.com/office/drawing/2014/main" id="{8AD137C6-2FA7-49BE-854C-1D8A049F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09950"/>
            <a:ext cx="17621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题干触发语</a:t>
            </a:r>
            <a:br/>
            <a:r>
              <a:rPr>
                <a:latin typeface="Arial Unicode MS"/>
              </a:rPr>
              <a:t>解答关键步骤</a:t>
            </a:r>
          </a:p>
        </p:txBody>
      </p:sp>
      <p:sp>
        <p:nvSpPr>
          <p:cNvPr id="18" name="Dot-125">
            <a:extLst xmlns:a="http://schemas.openxmlformats.org/drawingml/2006/main">
              <a:ext uri="{FF2B5EF4-FFF2-40B4-BE49-F238E27FC236}">
                <a16:creationId xmlns:a16="http://schemas.microsoft.com/office/drawing/2014/main" id="{AD6FC1BC-177D-4F65-981C-F2742E46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00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  <p:txBody xmlns:a="http://schemas.openxmlformats.org/drawingml/2006/main">
          <a:bodyPr/>
          <a:p/>
        </p:txBody>
      </p:sp>
      <p:sp>
        <p:nvSpPr>
          <p:cNvPr id="19" name="Text-126">
            <a:extLst xmlns:a="http://schemas.openxmlformats.org/drawingml/2006/main">
              <a:ext uri="{FF2B5EF4-FFF2-40B4-BE49-F238E27FC236}">
                <a16:creationId xmlns:a16="http://schemas.microsoft.com/office/drawing/2014/main" id="{BFE88454-5188-4D0A-8B24-63BF66DF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</a:t>
            </a:r>
          </a:p>
        </p:txBody>
      </p:sp>
      <p:sp>
        <p:nvSpPr>
          <p:cNvPr id="20" name="Text-127">
            <a:extLst xmlns:a="http://schemas.openxmlformats.org/drawingml/2006/main">
              <a:ext uri="{FF2B5EF4-FFF2-40B4-BE49-F238E27FC236}">
                <a16:creationId xmlns:a16="http://schemas.microsoft.com/office/drawing/2014/main" id="{81805DBD-B174-4F18-A25C-D712184C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157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独立编码复核</a:t>
            </a:r>
          </a:p>
        </p:txBody>
      </p:sp>
      <p:sp>
        <p:nvSpPr>
          <p:cNvPr id="21" name="Text-128">
            <a:extLst xmlns:a="http://schemas.openxmlformats.org/drawingml/2006/main">
              <a:ext uri="{FF2B5EF4-FFF2-40B4-BE49-F238E27FC236}">
                <a16:creationId xmlns:a16="http://schemas.microsoft.com/office/drawing/2014/main" id="{78B62BB3-DAC5-4D1A-86A4-122CBD1A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9950"/>
            <a:ext cx="17621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双人独立编码</a:t>
            </a:r>
            <a:br/>
            <a:r>
              <a:rPr>
                <a:latin typeface="Arial Unicode MS"/>
              </a:rPr>
              <a:t>146条分歧原文复核</a:t>
            </a:r>
          </a:p>
        </p:txBody>
      </p:sp>
      <p:sp>
        <p:nvSpPr>
          <p:cNvPr id="22" name="Dot-129">
            <a:extLst xmlns:a="http://schemas.openxmlformats.org/drawingml/2006/main">
              <a:ext uri="{FF2B5EF4-FFF2-40B4-BE49-F238E27FC236}">
                <a16:creationId xmlns:a16="http://schemas.microsoft.com/office/drawing/2014/main" id="{BF284BB4-A542-4DB2-9261-928ED44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02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23" name="Text-130">
            <a:extLst xmlns:a="http://schemas.openxmlformats.org/drawingml/2006/main">
              <a:ext uri="{FF2B5EF4-FFF2-40B4-BE49-F238E27FC236}">
                <a16:creationId xmlns:a16="http://schemas.microsoft.com/office/drawing/2014/main" id="{8DDF5F3A-C412-4E2B-B688-A53A2415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19325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5</a:t>
            </a:r>
          </a:p>
        </p:txBody>
      </p:sp>
      <p:sp>
        <p:nvSpPr>
          <p:cNvPr id="24" name="Text-131">
            <a:extLst xmlns:a="http://schemas.openxmlformats.org/drawingml/2006/main">
              <a:ext uri="{FF2B5EF4-FFF2-40B4-BE49-F238E27FC236}">
                <a16:creationId xmlns:a16="http://schemas.microsoft.com/office/drawing/2014/main" id="{19CE4015-7CC3-4A8C-A3A6-EB556D86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5716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统计与案例互证</a:t>
            </a:r>
          </a:p>
        </p:txBody>
      </p:sp>
      <p:sp>
        <p:nvSpPr>
          <p:cNvPr id="25" name="Text-132">
            <a:extLst xmlns:a="http://schemas.openxmlformats.org/drawingml/2006/main">
              <a:ext uri="{FF2B5EF4-FFF2-40B4-BE49-F238E27FC236}">
                <a16:creationId xmlns:a16="http://schemas.microsoft.com/office/drawing/2014/main" id="{0B215D67-75EB-454F-B141-3E481E72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9950"/>
            <a:ext cx="176212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总体分布、敏感性</a:t>
            </a:r>
            <a:br/>
            <a:r>
              <a:rPr>
                <a:latin typeface="Arial Unicode MS"/>
              </a:rPr>
              <a:t>与典型机制</a:t>
            </a:r>
          </a:p>
        </p:txBody>
      </p:sp>
      <p:sp>
        <p:nvSpPr>
          <p:cNvPr id="26" name="Shape-133">
            <a:extLst xmlns:a="http://schemas.openxmlformats.org/drawingml/2006/main">
              <a:ext uri="{FF2B5EF4-FFF2-40B4-BE49-F238E27FC236}">
                <a16:creationId xmlns:a16="http://schemas.microsoft.com/office/drawing/2014/main" id="{E8F906A5-6772-417D-B86D-02E8B23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62500"/>
            <a:ext cx="10706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7" name="Text-134">
            <a:extLst xmlns:a="http://schemas.openxmlformats.org/drawingml/2006/main">
              <a:ext uri="{FF2B5EF4-FFF2-40B4-BE49-F238E27FC236}">
                <a16:creationId xmlns:a16="http://schemas.microsoft.com/office/drawing/2014/main" id="{563AF1F1-768E-4A06-8FC8-A0F61161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530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独立编码一致性</a:t>
            </a:r>
          </a:p>
        </p:txBody>
      </p:sp>
      <p:sp>
        <p:nvSpPr>
          <p:cNvPr id="28" name="Text-135">
            <a:extLst xmlns:a="http://schemas.openxmlformats.org/drawingml/2006/main">
              <a:ext uri="{FF2B5EF4-FFF2-40B4-BE49-F238E27FC236}">
                <a16:creationId xmlns:a16="http://schemas.microsoft.com/office/drawing/2014/main" id="{FFDA1DDC-E655-4E6B-B332-9B28BAFD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43525"/>
            <a:ext cx="100012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评分者F—G：存在性一致89.67%，Cohen's κ=0.790；五分类加权κ=0.752</a:t>
            </a:r>
          </a:p>
        </p:txBody>
      </p:sp>
      <p:sp>
        <p:nvSpPr>
          <p:cNvPr id="29" name="Text-140">
            <a:extLst xmlns:a="http://schemas.openxmlformats.org/drawingml/2006/main">
              <a:ext uri="{FF2B5EF4-FFF2-40B4-BE49-F238E27FC236}">
                <a16:creationId xmlns:a16="http://schemas.microsoft.com/office/drawing/2014/main" id="{A9FEDEBC-D690-4F7F-9935-6C4B8B98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73974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-152">
            <a:extLst xmlns:a="http://schemas.openxmlformats.org/drawingml/2006/main">
              <a:ext uri="{FF2B5EF4-FFF2-40B4-BE49-F238E27FC236}">
                <a16:creationId xmlns:a16="http://schemas.microsoft.com/office/drawing/2014/main" id="{7BB525B9-785A-4FD5-A4DF-82F7805C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153">
            <a:extLst xmlns:a="http://schemas.openxmlformats.org/drawingml/2006/main">
              <a:ext uri="{FF2B5EF4-FFF2-40B4-BE49-F238E27FC236}">
                <a16:creationId xmlns:a16="http://schemas.microsoft.com/office/drawing/2014/main" id="{04AD45A7-45C2-4B69-81F8-4E3291E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154">
            <a:extLst xmlns:a="http://schemas.openxmlformats.org/drawingml/2006/main">
              <a:ext uri="{FF2B5EF4-FFF2-40B4-BE49-F238E27FC236}">
                <a16:creationId xmlns:a16="http://schemas.microsoft.com/office/drawing/2014/main" id="{769BAF9B-30B2-4570-9F0F-667E3F15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主要发现一：推理全覆盖，论证与创新呈选择性出现</a:t>
            </a:r>
          </a:p>
        </p:txBody>
      </p:sp>
      <p:sp>
        <p:nvSpPr>
          <p:cNvPr id="4" name="Text-155">
            <a:extLst xmlns:a="http://schemas.openxmlformats.org/drawingml/2006/main">
              <a:ext uri="{FF2B5EF4-FFF2-40B4-BE49-F238E27FC236}">
                <a16:creationId xmlns:a16="http://schemas.microsoft.com/office/drawing/2014/main" id="{17B2D0A1-1C68-41A0-A4EB-B5DEC43C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141">
            <a:extLst xmlns:a="http://schemas.openxmlformats.org/drawingml/2006/main">
              <a:ext uri="{FF2B5EF4-FFF2-40B4-BE49-F238E27FC236}">
                <a16:creationId xmlns:a16="http://schemas.microsoft.com/office/drawing/2014/main" id="{5A9D7051-947A-4C0C-9CA2-8C7BDE65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733425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-142">
            <a:extLst xmlns:a="http://schemas.openxmlformats.org/drawingml/2006/main">
              <a:ext uri="{FF2B5EF4-FFF2-40B4-BE49-F238E27FC236}">
                <a16:creationId xmlns:a16="http://schemas.microsoft.com/office/drawing/2014/main" id="{0D731C53-F4A3-4A5A-8CC5-0412B1F9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57325"/>
            <a:ext cx="3286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7" name="Text-143">
            <a:extLst xmlns:a="http://schemas.openxmlformats.org/drawingml/2006/main">
              <a:ext uri="{FF2B5EF4-FFF2-40B4-BE49-F238E27FC236}">
                <a16:creationId xmlns:a16="http://schemas.microsoft.com/office/drawing/2014/main" id="{3B401004-4860-43B4-98D7-11735CD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19250"/>
            <a:ext cx="123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100%</a:t>
            </a:r>
          </a:p>
        </p:txBody>
      </p:sp>
      <p:sp>
        <p:nvSpPr>
          <p:cNvPr id="8" name="Text-144">
            <a:extLst xmlns:a="http://schemas.openxmlformats.org/drawingml/2006/main">
              <a:ext uri="{FF2B5EF4-FFF2-40B4-BE49-F238E27FC236}">
                <a16:creationId xmlns:a16="http://schemas.microsoft.com/office/drawing/2014/main" id="{A59DDDC0-D063-4A6E-BCB4-7E809977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科学推理</a:t>
            </a:r>
          </a:p>
        </p:txBody>
      </p:sp>
      <p:sp>
        <p:nvSpPr>
          <p:cNvPr id="9" name="Shape-145">
            <a:extLst xmlns:a="http://schemas.openxmlformats.org/drawingml/2006/main">
              <a:ext uri="{FF2B5EF4-FFF2-40B4-BE49-F238E27FC236}">
                <a16:creationId xmlns:a16="http://schemas.microsoft.com/office/drawing/2014/main" id="{787DBA52-4B95-4B9C-B2B0-087DCC5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286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0" name="Text-146">
            <a:extLst xmlns:a="http://schemas.openxmlformats.org/drawingml/2006/main">
              <a:ext uri="{FF2B5EF4-FFF2-40B4-BE49-F238E27FC236}">
                <a16:creationId xmlns:a16="http://schemas.microsoft.com/office/drawing/2014/main" id="{1F62DB99-BF10-45A0-8298-044C49E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43225"/>
            <a:ext cx="123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86.9%</a:t>
            </a:r>
          </a:p>
        </p:txBody>
      </p:sp>
      <p:sp>
        <p:nvSpPr>
          <p:cNvPr id="11" name="Text-147">
            <a:extLst xmlns:a="http://schemas.openxmlformats.org/drawingml/2006/main">
              <a:ext uri="{FF2B5EF4-FFF2-40B4-BE49-F238E27FC236}">
                <a16:creationId xmlns:a16="http://schemas.microsoft.com/office/drawing/2014/main" id="{E5F77E2A-84BB-4084-89EF-9DAB2041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38475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模型建构</a:t>
            </a:r>
          </a:p>
        </p:txBody>
      </p:sp>
      <p:sp>
        <p:nvSpPr>
          <p:cNvPr id="12" name="Shape-148">
            <a:extLst xmlns:a="http://schemas.openxmlformats.org/drawingml/2006/main">
              <a:ext uri="{FF2B5EF4-FFF2-40B4-BE49-F238E27FC236}">
                <a16:creationId xmlns:a16="http://schemas.microsoft.com/office/drawing/2014/main" id="{0472FD01-8CFA-4FE1-9914-7B802934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05275"/>
            <a:ext cx="3286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FABF8253-6FB8-4B92-99C4-C5E2D8B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67200"/>
            <a:ext cx="1238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11.3%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3587F3C3-413C-4063-9A48-F108B168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科学论证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71182DC1-0455-4928-A643-C005615C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34025"/>
            <a:ext cx="3286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质疑创新仅2个分析单元（0.9%）</a:t>
            </a:r>
          </a:p>
        </p:txBody>
      </p:sp>
      <p:sp>
        <p:nvSpPr>
          <p:cNvPr id="16" name="Text-156">
            <a:extLst xmlns:a="http://schemas.openxmlformats.org/drawingml/2006/main">
              <a:ext uri="{FF2B5EF4-FFF2-40B4-BE49-F238E27FC236}">
                <a16:creationId xmlns:a16="http://schemas.microsoft.com/office/drawing/2014/main" id="{A1FF18B5-9855-49FC-8764-8EF681BB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07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781050" y="1543050"/>
          <a:ext xmlns:a="http://schemas.openxmlformats.org/drawingml/2006/main" cx="66675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394eaca73c345e0"/>
          </a:graphicData>
        </a:graphic>
      </p:graphicFrame>
    </p:spTree>
    <p:extLst>
      <p:ext uri="{BB962C8B-B14F-4D97-AF65-F5344CB8AC3E}">
        <p14:creationId xmlns:p14="http://schemas.microsoft.com/office/powerpoint/2010/main" val="9945504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169">
            <a:extLst xmlns:a="http://schemas.openxmlformats.org/drawingml/2006/main">
              <a:ext uri="{FF2B5EF4-FFF2-40B4-BE49-F238E27FC236}">
                <a16:creationId xmlns:a16="http://schemas.microsoft.com/office/drawing/2014/main" id="{851D6B56-0B60-4151-89F0-932B1522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170">
            <a:extLst xmlns:a="http://schemas.openxmlformats.org/drawingml/2006/main">
              <a:ext uri="{FF2B5EF4-FFF2-40B4-BE49-F238E27FC236}">
                <a16:creationId xmlns:a16="http://schemas.microsoft.com/office/drawing/2014/main" id="{D540DB36-0CFA-4719-BA13-8DE75164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171">
            <a:extLst xmlns:a="http://schemas.openxmlformats.org/drawingml/2006/main">
              <a:ext uri="{FF2B5EF4-FFF2-40B4-BE49-F238E27FC236}">
                <a16:creationId xmlns:a16="http://schemas.microsoft.com/office/drawing/2014/main" id="{7F7C1C0B-52B1-44FB-A729-9A5AF35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主要发现二：高水平主要集中在模型建构与科学推理</a:t>
            </a:r>
          </a:p>
        </p:txBody>
      </p:sp>
      <p:sp>
        <p:nvSpPr>
          <p:cNvPr id="4" name="Text-172">
            <a:extLst xmlns:a="http://schemas.openxmlformats.org/drawingml/2006/main">
              <a:ext uri="{FF2B5EF4-FFF2-40B4-BE49-F238E27FC236}">
                <a16:creationId xmlns:a16="http://schemas.microsoft.com/office/drawing/2014/main" id="{951C5747-0993-45BF-850A-DC40B105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157">
            <a:extLst xmlns:a="http://schemas.openxmlformats.org/drawingml/2006/main">
              <a:ext uri="{FF2B5EF4-FFF2-40B4-BE49-F238E27FC236}">
                <a16:creationId xmlns:a16="http://schemas.microsoft.com/office/drawing/2014/main" id="{C8250970-1E8A-468A-ADEE-9DB79FC0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7239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Text-158">
            <a:extLst xmlns:a="http://schemas.openxmlformats.org/drawingml/2006/main">
              <a:ext uri="{FF2B5EF4-FFF2-40B4-BE49-F238E27FC236}">
                <a16:creationId xmlns:a16="http://schemas.microsoft.com/office/drawing/2014/main" id="{0CF24276-02E8-480F-9A9E-1592B74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模型建构</a:t>
            </a:r>
          </a:p>
        </p:txBody>
      </p:sp>
      <p:sp>
        <p:nvSpPr>
          <p:cNvPr id="7" name="Text-159">
            <a:extLst xmlns:a="http://schemas.openxmlformats.org/drawingml/2006/main">
              <a:ext uri="{FF2B5EF4-FFF2-40B4-BE49-F238E27FC236}">
                <a16:creationId xmlns:a16="http://schemas.microsoft.com/office/drawing/2014/main" id="{EDD0EE9E-F684-49FD-BC6D-96427C65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811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L3：96 / 192</a:t>
            </a:r>
          </a:p>
        </p:txBody>
      </p:sp>
      <p:sp>
        <p:nvSpPr>
          <p:cNvPr id="8" name="Text-160">
            <a:extLst xmlns:a="http://schemas.openxmlformats.org/drawingml/2006/main">
              <a:ext uri="{FF2B5EF4-FFF2-40B4-BE49-F238E27FC236}">
                <a16:creationId xmlns:a16="http://schemas.microsoft.com/office/drawing/2014/main" id="{E9CFB1F6-6C1F-4153-8C03-094B0B3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2575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多个模型要素形成相互约束的整体。</a:t>
            </a:r>
          </a:p>
        </p:txBody>
      </p:sp>
      <p:cxnSp>
        <p:nvCxnSpPr>
          <p:cNvPr id="27" name="Rule-161"/>
          <p:cNvCxnSpPr/>
          <p:nvPr/>
        </p:nvCxnSpPr>
        <p:spPr>
          <a:xfrm xmlns:a="http://schemas.openxmlformats.org/drawingml/2006/main">
            <a:off x="8172450" y="2647950"/>
            <a:ext cx="3257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0" name="Text-162">
            <a:extLst xmlns:a="http://schemas.openxmlformats.org/drawingml/2006/main">
              <a:ext uri="{FF2B5EF4-FFF2-40B4-BE49-F238E27FC236}">
                <a16:creationId xmlns:a16="http://schemas.microsoft.com/office/drawing/2014/main" id="{220634C0-21CE-4347-9BDE-D3EC00C8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05125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科学推理</a:t>
            </a:r>
          </a:p>
        </p:txBody>
      </p:sp>
      <p:sp>
        <p:nvSpPr>
          <p:cNvPr id="11" name="Text-163">
            <a:extLst xmlns:a="http://schemas.openxmlformats.org/drawingml/2006/main">
              <a:ext uri="{FF2B5EF4-FFF2-40B4-BE49-F238E27FC236}">
                <a16:creationId xmlns:a16="http://schemas.microsoft.com/office/drawing/2014/main" id="{39CEF00C-74E2-4D58-B739-3E66B8C0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L3：126 / 221</a:t>
            </a:r>
          </a:p>
        </p:txBody>
      </p:sp>
      <p:sp>
        <p:nvSpPr>
          <p:cNvPr id="12" name="Text-164">
            <a:extLst xmlns:a="http://schemas.openxmlformats.org/drawingml/2006/main">
              <a:ext uri="{FF2B5EF4-FFF2-40B4-BE49-F238E27FC236}">
                <a16:creationId xmlns:a16="http://schemas.microsoft.com/office/drawing/2014/main" id="{88C52DDB-5B8B-4648-A723-F3274D4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3257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复杂条件和多条物理关系</a:t>
            </a:r>
            <a:br/>
            <a:r>
              <a:rPr>
                <a:latin typeface="Arial Unicode MS"/>
              </a:rPr>
              <a:t>被整合为连续推理链。</a:t>
            </a:r>
          </a:p>
        </p:txBody>
      </p:sp>
      <p:cxnSp>
        <p:nvCxnSpPr>
          <p:cNvPr id="31" name="Rule-165"/>
          <p:cNvCxnSpPr/>
          <p:nvPr/>
        </p:nvCxnSpPr>
        <p:spPr>
          <a:xfrm xmlns:a="http://schemas.openxmlformats.org/drawingml/2006/main">
            <a:off x="8172450" y="4048125"/>
            <a:ext cx="3257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4" name="Text-166">
            <a:extLst xmlns:a="http://schemas.openxmlformats.org/drawingml/2006/main">
              <a:ext uri="{FF2B5EF4-FFF2-40B4-BE49-F238E27FC236}">
                <a16:creationId xmlns:a16="http://schemas.microsoft.com/office/drawing/2014/main" id="{77F591FA-3B05-467D-898E-C3E2C5C5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结构特征</a:t>
            </a:r>
          </a:p>
        </p:txBody>
      </p:sp>
      <p:sp>
        <p:nvSpPr>
          <p:cNvPr id="15" name="Text-167">
            <a:extLst xmlns:a="http://schemas.openxmlformats.org/drawingml/2006/main">
              <a:ext uri="{FF2B5EF4-FFF2-40B4-BE49-F238E27FC236}">
                <a16:creationId xmlns:a16="http://schemas.microsoft.com/office/drawing/2014/main" id="{70AAB6DC-1534-45DA-B0D4-657D1DC9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未出现 L4</a:t>
            </a:r>
          </a:p>
        </p:txBody>
      </p:sp>
      <p:sp>
        <p:nvSpPr>
          <p:cNvPr id="16" name="Text-168">
            <a:extLst xmlns:a="http://schemas.openxmlformats.org/drawingml/2006/main">
              <a:ext uri="{FF2B5EF4-FFF2-40B4-BE49-F238E27FC236}">
                <a16:creationId xmlns:a16="http://schemas.microsoft.com/office/drawing/2014/main" id="{B0239342-6215-47D2-A2F6-3A711E5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76775"/>
            <a:ext cx="3257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试题要求很高，但主要仍在</a:t>
            </a:r>
            <a:br/>
            <a:r>
              <a:rPr>
                <a:latin typeface="Arial Unicode MS"/>
              </a:rPr>
              <a:t>给定情境内整合，不普遍要求</a:t>
            </a:r>
            <a:br/>
            <a:r>
              <a:rPr>
                <a:latin typeface="Arial Unicode MS"/>
              </a:rPr>
              <a:t>跨情境重构。</a:t>
            </a:r>
          </a:p>
        </p:txBody>
      </p:sp>
      <p:sp>
        <p:nvSpPr>
          <p:cNvPr id="17" name="Text-173">
            <a:extLst xmlns:a="http://schemas.openxmlformats.org/drawingml/2006/main">
              <a:ext uri="{FF2B5EF4-FFF2-40B4-BE49-F238E27FC236}">
                <a16:creationId xmlns:a16="http://schemas.microsoft.com/office/drawing/2014/main" id="{EB52918A-5D1C-41D2-9D39-AAF8BA44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08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742950" y="1628775"/>
          <a:ext xmlns:a="http://schemas.openxmlformats.org/drawingml/2006/main" cx="671512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e79bbe763241de"/>
          </a:graphicData>
        </a:graphic>
      </p:graphicFrame>
    </p:spTree>
    <p:extLst>
      <p:ext uri="{BB962C8B-B14F-4D97-AF65-F5344CB8AC3E}">
        <p14:creationId xmlns:p14="http://schemas.microsoft.com/office/powerpoint/2010/main" val="6660627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193">
            <a:extLst xmlns:a="http://schemas.openxmlformats.org/drawingml/2006/main">
              <a:ext uri="{FF2B5EF4-FFF2-40B4-BE49-F238E27FC236}">
                <a16:creationId xmlns:a16="http://schemas.microsoft.com/office/drawing/2014/main" id="{F1BEE679-4D56-4932-94AA-5F0D016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194">
            <a:extLst xmlns:a="http://schemas.openxmlformats.org/drawingml/2006/main">
              <a:ext uri="{FF2B5EF4-FFF2-40B4-BE49-F238E27FC236}">
                <a16:creationId xmlns:a16="http://schemas.microsoft.com/office/drawing/2014/main" id="{8BB04CF6-383C-4B42-BE7F-B96B20C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EA22B72F-5FB8-48FC-BC72-ACA888C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主要发现三：主导组合是“建模—推理”耦合</a:t>
            </a:r>
          </a:p>
        </p:txBody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C5C492E2-84C0-44CB-8418-6B8CFCF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D1A52EC1-E731-4940-8186-BC71102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47775"/>
            <a:ext cx="1066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维度组合不是简单叠加，而是揭示题目怎样组织认知活动。</a:t>
            </a:r>
          </a:p>
        </p:txBody>
      </p:sp>
      <p:sp>
        <p:nvSpPr>
          <p:cNvPr id="6" name="Shape-175">
            <a:extLst xmlns:a="http://schemas.openxmlformats.org/drawingml/2006/main">
              <a:ext uri="{FF2B5EF4-FFF2-40B4-BE49-F238E27FC236}">
                <a16:creationId xmlns:a16="http://schemas.microsoft.com/office/drawing/2014/main" id="{64D13C2B-85AC-4F10-B039-0B3A4BF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717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hape-176">
            <a:extLst xmlns:a="http://schemas.openxmlformats.org/drawingml/2006/main">
              <a:ext uri="{FF2B5EF4-FFF2-40B4-BE49-F238E27FC236}">
                <a16:creationId xmlns:a16="http://schemas.microsoft.com/office/drawing/2014/main" id="{E5903FB2-7011-4E1C-A905-8556B598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1717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8" name="Text-177">
            <a:extLst xmlns:a="http://schemas.openxmlformats.org/drawingml/2006/main">
              <a:ext uri="{FF2B5EF4-FFF2-40B4-BE49-F238E27FC236}">
                <a16:creationId xmlns:a16="http://schemas.microsoft.com/office/drawing/2014/main" id="{EDF5BB39-46F5-4126-ACB3-2F280BE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9077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77.8%</a:t>
            </a:r>
          </a:p>
        </p:txBody>
      </p:sp>
      <p:sp>
        <p:nvSpPr>
          <p:cNvPr id="9" name="Text-178">
            <a:extLst xmlns:a="http://schemas.openxmlformats.org/drawingml/2006/main">
              <a:ext uri="{FF2B5EF4-FFF2-40B4-BE49-F238E27FC236}">
                <a16:creationId xmlns:a16="http://schemas.microsoft.com/office/drawing/2014/main" id="{F9372315-2228-4BF7-AB89-60FC87A6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3847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模型建构＋科学推理</a:t>
            </a:r>
          </a:p>
        </p:txBody>
      </p:sp>
      <p:sp>
        <p:nvSpPr>
          <p:cNvPr id="10" name="Text-179">
            <a:extLst xmlns:a="http://schemas.openxmlformats.org/drawingml/2006/main">
              <a:ext uri="{FF2B5EF4-FFF2-40B4-BE49-F238E27FC236}">
                <a16:creationId xmlns:a16="http://schemas.microsoft.com/office/drawing/2014/main" id="{1F768616-7103-4BAE-A856-CED4592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172个分析单元，构成绝对主流</a:t>
            </a:r>
          </a:p>
        </p:txBody>
      </p:sp>
      <p:sp>
        <p:nvSpPr>
          <p:cNvPr id="11" name="Shape-180">
            <a:extLst xmlns:a="http://schemas.openxmlformats.org/drawingml/2006/main">
              <a:ext uri="{FF2B5EF4-FFF2-40B4-BE49-F238E27FC236}">
                <a16:creationId xmlns:a16="http://schemas.microsoft.com/office/drawing/2014/main" id="{B2DA4649-B85A-41EA-BC70-ABFDFC74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Shape-181">
            <a:extLst xmlns:a="http://schemas.openxmlformats.org/drawingml/2006/main">
              <a:ext uri="{FF2B5EF4-FFF2-40B4-BE49-F238E27FC236}">
                <a16:creationId xmlns:a16="http://schemas.microsoft.com/office/drawing/2014/main" id="{A285889E-A5D3-4EB6-829D-5B8E5BC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717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032CA5FC-6682-402F-9569-0DE81CEE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9077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8.1%</a:t>
            </a:r>
          </a:p>
        </p:txBody>
      </p:sp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D3ECEA1C-9A36-4719-B982-E46C17D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3847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建模＋推理＋论证</a:t>
            </a:r>
          </a:p>
        </p:txBody>
      </p:sp>
      <p:sp>
        <p:nvSpPr>
          <p:cNvPr id="15" name="Text-184">
            <a:extLst xmlns:a="http://schemas.openxmlformats.org/drawingml/2006/main">
              <a:ext uri="{FF2B5EF4-FFF2-40B4-BE49-F238E27FC236}">
                <a16:creationId xmlns:a16="http://schemas.microsoft.com/office/drawing/2014/main" id="{A7464DB5-2073-43D4-BB19-33396AD8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8137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18个分析单元，加入显性证据链</a:t>
            </a:r>
          </a:p>
        </p:txBody>
      </p:sp>
      <p:sp>
        <p:nvSpPr>
          <p:cNvPr id="16" name="Shape-185">
            <a:extLst xmlns:a="http://schemas.openxmlformats.org/drawingml/2006/main">
              <a:ext uri="{FF2B5EF4-FFF2-40B4-BE49-F238E27FC236}">
                <a16:creationId xmlns:a16="http://schemas.microsoft.com/office/drawing/2014/main" id="{A27AC93E-3B26-47B3-AFF4-1F282A79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71700"/>
            <a:ext cx="3333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Shape-186">
            <a:extLst xmlns:a="http://schemas.openxmlformats.org/drawingml/2006/main">
              <a:ext uri="{FF2B5EF4-FFF2-40B4-BE49-F238E27FC236}">
                <a16:creationId xmlns:a16="http://schemas.microsoft.com/office/drawing/2014/main" id="{CC5DBDEA-96AE-45EB-AFE6-8245875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717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8" name="Text-187">
            <a:extLst xmlns:a="http://schemas.openxmlformats.org/drawingml/2006/main">
              <a:ext uri="{FF2B5EF4-FFF2-40B4-BE49-F238E27FC236}">
                <a16:creationId xmlns:a16="http://schemas.microsoft.com/office/drawing/2014/main" id="{C11EFCB1-F950-4E33-BB06-FBB4DCF4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90775"/>
            <a:ext cx="28765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10.4%</a:t>
            </a:r>
          </a:p>
        </p:txBody>
      </p:sp>
      <p:sp>
        <p:nvSpPr>
          <p:cNvPr id="19" name="Text-188">
            <a:extLst xmlns:a="http://schemas.openxmlformats.org/drawingml/2006/main">
              <a:ext uri="{FF2B5EF4-FFF2-40B4-BE49-F238E27FC236}">
                <a16:creationId xmlns:a16="http://schemas.microsoft.com/office/drawing/2014/main" id="{A7BAAD1E-0A6D-4E77-BC08-0F6BE44F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38475"/>
            <a:ext cx="28765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仅科学推理</a:t>
            </a:r>
          </a:p>
        </p:txBody>
      </p:sp>
      <p:sp>
        <p:nvSpPr>
          <p:cNvPr id="20" name="Text-189">
            <a:extLst xmlns:a="http://schemas.openxmlformats.org/drawingml/2006/main">
              <a:ext uri="{FF2B5EF4-FFF2-40B4-BE49-F238E27FC236}">
                <a16:creationId xmlns:a16="http://schemas.microsoft.com/office/drawing/2014/main" id="{6F2EBC60-6E0B-4078-A6C2-BDA80915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81375"/>
            <a:ext cx="287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23个分析单元，模型要素不突出</a:t>
            </a:r>
          </a:p>
        </p:txBody>
      </p:sp>
      <p:sp>
        <p:nvSpPr>
          <p:cNvPr id="21" name="Shape-190">
            <a:extLst xmlns:a="http://schemas.openxmlformats.org/drawingml/2006/main">
              <a:ext uri="{FF2B5EF4-FFF2-40B4-BE49-F238E27FC236}">
                <a16:creationId xmlns:a16="http://schemas.microsoft.com/office/drawing/2014/main" id="{787821ED-3B8B-4CD6-9CE6-7A31B8F7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362450"/>
            <a:ext cx="111061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22" name="Text-191">
            <a:extLst xmlns:a="http://schemas.openxmlformats.org/drawingml/2006/main">
              <a:ext uri="{FF2B5EF4-FFF2-40B4-BE49-F238E27FC236}">
                <a16:creationId xmlns:a16="http://schemas.microsoft.com/office/drawing/2014/main" id="{5D74DCF5-87E1-45A1-A793-13CBF97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43338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四维同时出现：1个单元（0.5%）</a:t>
            </a:r>
          </a:p>
        </p:txBody>
      </p:sp>
      <p:sp>
        <p:nvSpPr>
          <p:cNvPr id="23" name="Text-192">
            <a:extLst xmlns:a="http://schemas.openxmlformats.org/drawingml/2006/main">
              <a:ext uri="{FF2B5EF4-FFF2-40B4-BE49-F238E27FC236}">
                <a16:creationId xmlns:a16="http://schemas.microsoft.com/office/drawing/2014/main" id="{C44C3564-4AA2-43ED-AF12-A6BA65F4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609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高阶教学设计不能只复制试题结构，</a:t>
            </a:r>
            <a:br/>
            <a:r>
              <a:rPr>
                <a:latin typeface="Arial Unicode MS"/>
              </a:rPr>
              <a:t>需要有意识地补入论证、比较与方案修正。</a:t>
            </a:r>
          </a:p>
        </p:txBody>
      </p:sp>
      <p:sp>
        <p:nvSpPr>
          <p:cNvPr id="24" name="Text-197">
            <a:extLst xmlns:a="http://schemas.openxmlformats.org/drawingml/2006/main">
              <a:ext uri="{FF2B5EF4-FFF2-40B4-BE49-F238E27FC236}">
                <a16:creationId xmlns:a16="http://schemas.microsoft.com/office/drawing/2014/main" id="{8BDEA4F6-4617-453F-8696-8DE034F6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41321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210">
            <a:extLst xmlns:a="http://schemas.openxmlformats.org/drawingml/2006/main">
              <a:ext uri="{FF2B5EF4-FFF2-40B4-BE49-F238E27FC236}">
                <a16:creationId xmlns:a16="http://schemas.microsoft.com/office/drawing/2014/main" id="{642580A6-5C47-40E1-8BAC-3256E649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11">
            <a:extLst xmlns:a="http://schemas.openxmlformats.org/drawingml/2006/main">
              <a:ext uri="{FF2B5EF4-FFF2-40B4-BE49-F238E27FC236}">
                <a16:creationId xmlns:a16="http://schemas.microsoft.com/office/drawing/2014/main" id="{36CA9DB6-DDC0-4CA8-8F16-EB9C68EB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212">
            <a:extLst xmlns:a="http://schemas.openxmlformats.org/drawingml/2006/main">
              <a:ext uri="{FF2B5EF4-FFF2-40B4-BE49-F238E27FC236}">
                <a16:creationId xmlns:a16="http://schemas.microsoft.com/office/drawing/2014/main" id="{AE3FA18B-BD5B-4018-9403-EBC2C42E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届次比较：结构稳定，但论证要求存在明显波动</a:t>
            </a:r>
          </a:p>
        </p:txBody>
      </p:sp>
      <p:sp>
        <p:nvSpPr>
          <p:cNvPr id="4" name="Text-213">
            <a:extLst xmlns:a="http://schemas.openxmlformats.org/drawingml/2006/main">
              <a:ext uri="{FF2B5EF4-FFF2-40B4-BE49-F238E27FC236}">
                <a16:creationId xmlns:a16="http://schemas.microsoft.com/office/drawing/2014/main" id="{39109DB1-CE28-4ADF-A957-7686B902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198">
            <a:extLst xmlns:a="http://schemas.openxmlformats.org/drawingml/2006/main">
              <a:ext uri="{FF2B5EF4-FFF2-40B4-BE49-F238E27FC236}">
                <a16:creationId xmlns:a16="http://schemas.microsoft.com/office/drawing/2014/main" id="{5FD811FB-F653-4E86-9DE3-C6D557B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72390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-199">
            <a:extLst xmlns:a="http://schemas.openxmlformats.org/drawingml/2006/main">
              <a:ext uri="{FF2B5EF4-FFF2-40B4-BE49-F238E27FC236}">
                <a16:creationId xmlns:a16="http://schemas.microsoft.com/office/drawing/2014/main" id="{3DFC208A-7665-4B73-8316-3F811A69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6685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7" name="Text-200">
            <a:extLst xmlns:a="http://schemas.openxmlformats.org/drawingml/2006/main">
              <a:ext uri="{FF2B5EF4-FFF2-40B4-BE49-F238E27FC236}">
                <a16:creationId xmlns:a16="http://schemas.microsoft.com/office/drawing/2014/main" id="{03E64286-06D0-42D0-833E-2E8319EA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模型建构</a:t>
            </a:r>
          </a:p>
        </p:txBody>
      </p:sp>
      <p:sp>
        <p:nvSpPr>
          <p:cNvPr id="8" name="Text-201">
            <a:extLst xmlns:a="http://schemas.openxmlformats.org/drawingml/2006/main">
              <a:ext uri="{FF2B5EF4-FFF2-40B4-BE49-F238E27FC236}">
                <a16:creationId xmlns:a16="http://schemas.microsoft.com/office/drawing/2014/main" id="{21DC5B55-B613-4398-B1B7-2802F4F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6687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78.1%—92.3%</a:t>
            </a:r>
          </a:p>
        </p:txBody>
      </p:sp>
      <p:sp>
        <p:nvSpPr>
          <p:cNvPr id="9" name="Text-202">
            <a:extLst xmlns:a="http://schemas.openxmlformats.org/drawingml/2006/main">
              <a:ext uri="{FF2B5EF4-FFF2-40B4-BE49-F238E27FC236}">
                <a16:creationId xmlns:a16="http://schemas.microsoft.com/office/drawing/2014/main" id="{1FD1E697-D201-4664-96D9-CC4C4CE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952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连续八届均保持高位。</a:t>
            </a:r>
          </a:p>
        </p:txBody>
      </p:sp>
      <p:sp>
        <p:nvSpPr>
          <p:cNvPr id="10" name="Shape-203">
            <a:extLst xmlns:a="http://schemas.openxmlformats.org/drawingml/2006/main">
              <a:ext uri="{FF2B5EF4-FFF2-40B4-BE49-F238E27FC236}">
                <a16:creationId xmlns:a16="http://schemas.microsoft.com/office/drawing/2014/main" id="{F1E37948-AB6E-4C0C-9CF1-0B4C11A8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1" name="Text-204">
            <a:extLst xmlns:a="http://schemas.openxmlformats.org/drawingml/2006/main">
              <a:ext uri="{FF2B5EF4-FFF2-40B4-BE49-F238E27FC236}">
                <a16:creationId xmlns:a16="http://schemas.microsoft.com/office/drawing/2014/main" id="{EA0C5584-93A1-413D-9363-DCD9F52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57525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科学论证</a:t>
            </a:r>
          </a:p>
        </p:txBody>
      </p:sp>
      <p:sp>
        <p:nvSpPr>
          <p:cNvPr id="12" name="Text-205">
            <a:extLst xmlns:a="http://schemas.openxmlformats.org/drawingml/2006/main">
              <a:ext uri="{FF2B5EF4-FFF2-40B4-BE49-F238E27FC236}">
                <a16:creationId xmlns:a16="http://schemas.microsoft.com/office/drawing/2014/main" id="{514952C3-DB4F-40C7-97DC-2382CD43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57525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0—21.9%</a:t>
            </a:r>
          </a:p>
        </p:txBody>
      </p:sp>
      <p:sp>
        <p:nvSpPr>
          <p:cNvPr id="13" name="Text-206">
            <a:extLst xmlns:a="http://schemas.openxmlformats.org/drawingml/2006/main">
              <a:ext uri="{FF2B5EF4-FFF2-40B4-BE49-F238E27FC236}">
                <a16:creationId xmlns:a16="http://schemas.microsoft.com/office/drawing/2014/main" id="{7A343161-A37B-445E-AA53-BDAF3F3D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86150"/>
            <a:ext cx="2952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不同届次随任务设置而波动。</a:t>
            </a:r>
          </a:p>
        </p:txBody>
      </p:sp>
      <p:sp>
        <p:nvSpPr>
          <p:cNvPr id="14" name="Shape-207">
            <a:extLst xmlns:a="http://schemas.openxmlformats.org/drawingml/2006/main">
              <a:ext uri="{FF2B5EF4-FFF2-40B4-BE49-F238E27FC236}">
                <a16:creationId xmlns:a16="http://schemas.microsoft.com/office/drawing/2014/main" id="{2F97EEAF-681C-456D-8303-F0555E75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3429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15" name="Text-208">
            <a:extLst xmlns:a="http://schemas.openxmlformats.org/drawingml/2006/main">
              <a:ext uri="{FF2B5EF4-FFF2-40B4-BE49-F238E27FC236}">
                <a16:creationId xmlns:a16="http://schemas.microsoft.com/office/drawing/2014/main" id="{2E820719-3F85-4BFC-9244-9C7353E0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48175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解释</a:t>
            </a:r>
          </a:p>
        </p:txBody>
      </p:sp>
      <p:sp>
        <p:nvSpPr>
          <p:cNvPr id="16" name="Text-209">
            <a:extLst xmlns:a="http://schemas.openxmlformats.org/drawingml/2006/main">
              <a:ext uri="{FF2B5EF4-FFF2-40B4-BE49-F238E27FC236}">
                <a16:creationId xmlns:a16="http://schemas.microsoft.com/office/drawing/2014/main" id="{2C9734D8-6167-4832-A569-300DF6FA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48225"/>
            <a:ext cx="2952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不能把届次差异直接解释为命题质量上升或下降；更适合追问具体题型与任务结构。</a:t>
            </a:r>
          </a:p>
        </p:txBody>
      </p:sp>
      <p:sp>
        <p:nvSpPr>
          <p:cNvPr id="17" name="Text-214">
            <a:extLst xmlns:a="http://schemas.openxmlformats.org/drawingml/2006/main">
              <a:ext uri="{FF2B5EF4-FFF2-40B4-BE49-F238E27FC236}">
                <a16:creationId xmlns:a16="http://schemas.microsoft.com/office/drawing/2014/main" id="{B0C7C9E6-2A90-41FE-872A-4C111985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10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762000" y="1581150"/>
          <a:ext xmlns:a="http://schemas.openxmlformats.org/drawingml/2006/main" cx="6667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3ed99c27f2467f"/>
          </a:graphicData>
        </a:graphic>
      </p:graphicFrame>
    </p:spTree>
    <p:extLst>
      <p:ext uri="{BB962C8B-B14F-4D97-AF65-F5344CB8AC3E}">
        <p14:creationId xmlns:p14="http://schemas.microsoft.com/office/powerpoint/2010/main" val="11239722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-235">
            <a:extLst xmlns:a="http://schemas.openxmlformats.org/drawingml/2006/main">
              <a:ext uri="{FF2B5EF4-FFF2-40B4-BE49-F238E27FC236}">
                <a16:creationId xmlns:a16="http://schemas.microsoft.com/office/drawing/2014/main" id="{5BB641F0-2EFB-48C9-A8D2-033CBD3D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36">
            <a:extLst xmlns:a="http://schemas.openxmlformats.org/drawingml/2006/main">
              <a:ext uri="{FF2B5EF4-FFF2-40B4-BE49-F238E27FC236}">
                <a16:creationId xmlns:a16="http://schemas.microsoft.com/office/drawing/2014/main" id="{6DDC9DAD-4CE6-46F9-8878-663120F7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237">
            <a:extLst xmlns:a="http://schemas.openxmlformats.org/drawingml/2006/main">
              <a:ext uri="{FF2B5EF4-FFF2-40B4-BE49-F238E27FC236}">
                <a16:creationId xmlns:a16="http://schemas.microsoft.com/office/drawing/2014/main" id="{C3448F91-23CE-41FB-A3FE-904D8B6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稳健性检查：更换分析单位权重，核心排序不变</a:t>
            </a:r>
          </a:p>
        </p:txBody>
      </p:sp>
      <p:sp>
        <p:nvSpPr>
          <p:cNvPr id="4" name="Text-238">
            <a:extLst xmlns:a="http://schemas.openxmlformats.org/drawingml/2006/main">
              <a:ext uri="{FF2B5EF4-FFF2-40B4-BE49-F238E27FC236}">
                <a16:creationId xmlns:a16="http://schemas.microsoft.com/office/drawing/2014/main" id="{F3D12F56-E8FD-4A94-9498-B032EFD7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215">
            <a:extLst xmlns:a="http://schemas.openxmlformats.org/drawingml/2006/main">
              <a:ext uri="{FF2B5EF4-FFF2-40B4-BE49-F238E27FC236}">
                <a16:creationId xmlns:a16="http://schemas.microsoft.com/office/drawing/2014/main" id="{9A04AB23-D35B-40E1-ADA3-17D84A22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三种权重口径</a:t>
            </a:r>
          </a:p>
        </p:txBody>
      </p:sp>
      <p:sp>
        <p:nvSpPr>
          <p:cNvPr id="6" name="Shape-216">
            <a:extLst xmlns:a="http://schemas.openxmlformats.org/drawingml/2006/main">
              <a:ext uri="{FF2B5EF4-FFF2-40B4-BE49-F238E27FC236}">
                <a16:creationId xmlns:a16="http://schemas.microsoft.com/office/drawing/2014/main" id="{0D820BD3-90D5-4D95-B5F8-B439AD0E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70675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7" name="Shape-217">
            <a:extLst xmlns:a="http://schemas.openxmlformats.org/drawingml/2006/main">
              <a:ext uri="{FF2B5EF4-FFF2-40B4-BE49-F238E27FC236}">
                <a16:creationId xmlns:a16="http://schemas.microsoft.com/office/drawing/2014/main" id="{2BA23547-5030-4271-B3FD-CEDE816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8" name="Text-218">
            <a:extLst xmlns:a="http://schemas.openxmlformats.org/drawingml/2006/main">
              <a:ext uri="{FF2B5EF4-FFF2-40B4-BE49-F238E27FC236}">
                <a16:creationId xmlns:a16="http://schemas.microsoft.com/office/drawing/2014/main" id="{C27ABA16-F38E-4A40-A20A-6DA7DA46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81200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221个分析单元等权</a:t>
            </a:r>
          </a:p>
        </p:txBody>
      </p:sp>
      <p:sp>
        <p:nvSpPr>
          <p:cNvPr id="9" name="Text-219">
            <a:extLst xmlns:a="http://schemas.openxmlformats.org/drawingml/2006/main">
              <a:ext uri="{FF2B5EF4-FFF2-40B4-BE49-F238E27FC236}">
                <a16:creationId xmlns:a16="http://schemas.microsoft.com/office/drawing/2014/main" id="{C824529F-4631-4FC2-B110-D72B6E89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81200"/>
            <a:ext cx="44005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模型86.88% · 推理100% · 论证11.31% · 创新0.90%</a:t>
            </a:r>
          </a:p>
        </p:txBody>
      </p:sp>
      <p:sp>
        <p:nvSpPr>
          <p:cNvPr id="10" name="Shape-220">
            <a:extLst xmlns:a="http://schemas.openxmlformats.org/drawingml/2006/main">
              <a:ext uri="{FF2B5EF4-FFF2-40B4-BE49-F238E27FC236}">
                <a16:creationId xmlns:a16="http://schemas.microsoft.com/office/drawing/2014/main" id="{9B6810BB-D0EE-4CF9-9E5C-685CA15E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70675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1" name="Shape-221">
            <a:extLst xmlns:a="http://schemas.openxmlformats.org/drawingml/2006/main">
              <a:ext uri="{FF2B5EF4-FFF2-40B4-BE49-F238E27FC236}">
                <a16:creationId xmlns:a16="http://schemas.microsoft.com/office/drawing/2014/main" id="{E494D960-3B30-4306-9F64-272A520A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2" name="Text-222">
            <a:extLst xmlns:a="http://schemas.openxmlformats.org/drawingml/2006/main">
              <a:ext uri="{FF2B5EF4-FFF2-40B4-BE49-F238E27FC236}">
                <a16:creationId xmlns:a16="http://schemas.microsoft.com/office/drawing/2014/main" id="{CB1B9604-9713-4391-A360-35EE4F33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14625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209个原始小问等权</a:t>
            </a:r>
          </a:p>
        </p:txBody>
      </p:sp>
      <p:sp>
        <p:nvSpPr>
          <p:cNvPr id="13" name="Text-223">
            <a:extLst xmlns:a="http://schemas.openxmlformats.org/drawingml/2006/main">
              <a:ext uri="{FF2B5EF4-FFF2-40B4-BE49-F238E27FC236}">
                <a16:creationId xmlns:a16="http://schemas.microsoft.com/office/drawing/2014/main" id="{510838F9-E650-438C-848F-B2B7EE17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44005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模型87.11% · 推理100% · 论证11.96% · 创新0.96%</a:t>
            </a:r>
          </a:p>
        </p:txBody>
      </p:sp>
      <p:sp>
        <p:nvSpPr>
          <p:cNvPr id="14" name="Shape-224">
            <a:extLst xmlns:a="http://schemas.openxmlformats.org/drawingml/2006/main">
              <a:ext uri="{FF2B5EF4-FFF2-40B4-BE49-F238E27FC236}">
                <a16:creationId xmlns:a16="http://schemas.microsoft.com/office/drawing/2014/main" id="{9A657693-F322-4F68-BC1E-B4888AF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70675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5" name="Shape-225">
            <a:extLst xmlns:a="http://schemas.openxmlformats.org/drawingml/2006/main">
              <a:ext uri="{FF2B5EF4-FFF2-40B4-BE49-F238E27FC236}">
                <a16:creationId xmlns:a16="http://schemas.microsoft.com/office/drawing/2014/main" id="{A887760D-4644-43A1-B8BB-B5C70332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24225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6" name="Text-226">
            <a:extLst xmlns:a="http://schemas.openxmlformats.org/drawingml/2006/main">
              <a:ext uri="{FF2B5EF4-FFF2-40B4-BE49-F238E27FC236}">
                <a16:creationId xmlns:a16="http://schemas.microsoft.com/office/drawing/2014/main" id="{B2E17EDF-6F28-4E5C-85A8-E79A7D2C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48050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60道大题等权</a:t>
            </a:r>
          </a:p>
        </p:txBody>
      </p:sp>
      <p:sp>
        <p:nvSpPr>
          <p:cNvPr id="17" name="Text-227">
            <a:extLst xmlns:a="http://schemas.openxmlformats.org/drawingml/2006/main">
              <a:ext uri="{FF2B5EF4-FFF2-40B4-BE49-F238E27FC236}">
                <a16:creationId xmlns:a16="http://schemas.microsoft.com/office/drawing/2014/main" id="{F0BB37B6-3DB2-4785-AD38-C03A314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48050"/>
            <a:ext cx="44005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模型89.29% · 推理100% · 论证11.40% · 创新0.97%</a:t>
            </a:r>
          </a:p>
        </p:txBody>
      </p:sp>
      <p:sp>
        <p:nvSpPr>
          <p:cNvPr id="18" name="Shape-228">
            <a:extLst xmlns:a="http://schemas.openxmlformats.org/drawingml/2006/main">
              <a:ext uri="{FF2B5EF4-FFF2-40B4-BE49-F238E27FC236}">
                <a16:creationId xmlns:a16="http://schemas.microsoft.com/office/drawing/2014/main" id="{00003D44-81AF-4C69-A6B6-460AA32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66875"/>
            <a:ext cx="32575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19" name="Text-229">
            <a:extLst xmlns:a="http://schemas.openxmlformats.org/drawingml/2006/main">
              <a:ext uri="{FF2B5EF4-FFF2-40B4-BE49-F238E27FC236}">
                <a16:creationId xmlns:a16="http://schemas.microsoft.com/office/drawing/2014/main" id="{E56FF4D9-4816-4D52-8F5C-48C6612D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最大绝对变化</a:t>
            </a:r>
          </a:p>
        </p:txBody>
      </p:sp>
      <p:sp>
        <p:nvSpPr>
          <p:cNvPr id="20" name="Text-230">
            <a:extLst xmlns:a="http://schemas.openxmlformats.org/drawingml/2006/main">
              <a:ext uri="{FF2B5EF4-FFF2-40B4-BE49-F238E27FC236}">
                <a16:creationId xmlns:a16="http://schemas.microsoft.com/office/drawing/2014/main" id="{E85E22A7-E651-4C45-A6AF-2E791A3D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2724150" cy="866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2.41</a:t>
            </a:r>
          </a:p>
        </p:txBody>
      </p:sp>
      <p:sp>
        <p:nvSpPr>
          <p:cNvPr id="21" name="Text-231">
            <a:extLst xmlns:a="http://schemas.openxmlformats.org/drawingml/2006/main">
              <a:ext uri="{FF2B5EF4-FFF2-40B4-BE49-F238E27FC236}">
                <a16:creationId xmlns:a16="http://schemas.microsoft.com/office/drawing/2014/main" id="{B173BA24-2D4C-45A5-8CED-563D0336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24225"/>
            <a:ext cx="2724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个百分点</a:t>
            </a:r>
          </a:p>
        </p:txBody>
      </p:sp>
      <p:sp>
        <p:nvSpPr>
          <p:cNvPr id="22" name="Shape-232">
            <a:extLst xmlns:a="http://schemas.openxmlformats.org/drawingml/2006/main">
              <a:ext uri="{FF2B5EF4-FFF2-40B4-BE49-F238E27FC236}">
                <a16:creationId xmlns:a16="http://schemas.microsoft.com/office/drawing/2014/main" id="{BF81C686-99D6-4694-9AE1-31548A11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0858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3" name="Text-233">
            <a:extLst xmlns:a="http://schemas.openxmlformats.org/drawingml/2006/main">
              <a:ext uri="{FF2B5EF4-FFF2-40B4-BE49-F238E27FC236}">
                <a16:creationId xmlns:a16="http://schemas.microsoft.com/office/drawing/2014/main" id="{1F7C1348-1E0A-4E57-AC00-C26E5BC6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8572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结论</a:t>
            </a:r>
          </a:p>
        </p:txBody>
      </p:sp>
      <p:sp>
        <p:nvSpPr>
          <p:cNvPr id="24" name="Text-234">
            <a:extLst xmlns:a="http://schemas.openxmlformats.org/drawingml/2006/main">
              <a:ext uri="{FF2B5EF4-FFF2-40B4-BE49-F238E27FC236}">
                <a16:creationId xmlns:a16="http://schemas.microsoft.com/office/drawing/2014/main" id="{2DAE9FD6-3425-4C1D-829C-E1B7A888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9429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四维出现率的高低顺序不依赖某一种切分口径；“推理最高、创新最低”的核心判断保持稳定。</a:t>
            </a:r>
          </a:p>
        </p:txBody>
      </p:sp>
      <p:sp>
        <p:nvSpPr>
          <p:cNvPr id="25" name="Text-239">
            <a:extLst xmlns:a="http://schemas.openxmlformats.org/drawingml/2006/main">
              <a:ext uri="{FF2B5EF4-FFF2-40B4-BE49-F238E27FC236}">
                <a16:creationId xmlns:a16="http://schemas.microsoft.com/office/drawing/2014/main" id="{2031D2A8-B6DC-40D2-A9A6-A34681E3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33041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-275">
            <a:extLst xmlns:a="http://schemas.openxmlformats.org/drawingml/2006/main">
              <a:ext uri="{FF2B5EF4-FFF2-40B4-BE49-F238E27FC236}">
                <a16:creationId xmlns:a16="http://schemas.microsoft.com/office/drawing/2014/main" id="{BA8EC350-2705-49E2-A7EF-28053B85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76">
            <a:extLst xmlns:a="http://schemas.openxmlformats.org/drawingml/2006/main">
              <a:ext uri="{FF2B5EF4-FFF2-40B4-BE49-F238E27FC236}">
                <a16:creationId xmlns:a16="http://schemas.microsoft.com/office/drawing/2014/main" id="{9B4D73AA-D772-42B3-AC54-6661B15E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277">
            <a:extLst xmlns:a="http://schemas.openxmlformats.org/drawingml/2006/main">
              <a:ext uri="{FF2B5EF4-FFF2-40B4-BE49-F238E27FC236}">
                <a16:creationId xmlns:a16="http://schemas.microsoft.com/office/drawing/2014/main" id="{ADA2740E-738B-40C1-B82F-595BDD1F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典型试题：六种高认知要求的形成机制</a:t>
            </a:r>
          </a:p>
        </p:txBody>
      </p:sp>
      <p:sp>
        <p:nvSpPr>
          <p:cNvPr id="4" name="Text-278">
            <a:extLst xmlns:a="http://schemas.openxmlformats.org/drawingml/2006/main">
              <a:ext uri="{FF2B5EF4-FFF2-40B4-BE49-F238E27FC236}">
                <a16:creationId xmlns:a16="http://schemas.microsoft.com/office/drawing/2014/main" id="{304C7191-53F9-4522-B480-6107CC6D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240">
            <a:extLst xmlns:a="http://schemas.openxmlformats.org/drawingml/2006/main">
              <a:ext uri="{FF2B5EF4-FFF2-40B4-BE49-F238E27FC236}">
                <a16:creationId xmlns:a16="http://schemas.microsoft.com/office/drawing/2014/main" id="{77FD22D7-BD19-4379-96E4-540D467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68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6" name="Text-241">
            <a:extLst xmlns:a="http://schemas.openxmlformats.org/drawingml/2006/main">
              <a:ext uri="{FF2B5EF4-FFF2-40B4-BE49-F238E27FC236}">
                <a16:creationId xmlns:a16="http://schemas.microsoft.com/office/drawing/2014/main" id="{4DA9D562-7A4B-4974-9170-E5C1E2E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案例</a:t>
            </a:r>
          </a:p>
        </p:txBody>
      </p:sp>
      <p:sp>
        <p:nvSpPr>
          <p:cNvPr id="7" name="Text-242">
            <a:extLst xmlns:a="http://schemas.openxmlformats.org/drawingml/2006/main">
              <a:ext uri="{FF2B5EF4-FFF2-40B4-BE49-F238E27FC236}">
                <a16:creationId xmlns:a16="http://schemas.microsoft.com/office/drawing/2014/main" id="{A0883C33-2A76-47E7-9BAE-BD508A2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76350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核心情境</a:t>
            </a:r>
          </a:p>
        </p:txBody>
      </p:sp>
      <p:sp>
        <p:nvSpPr>
          <p:cNvPr id="8" name="Text-243">
            <a:extLst xmlns:a="http://schemas.openxmlformats.org/drawingml/2006/main">
              <a:ext uri="{FF2B5EF4-FFF2-40B4-BE49-F238E27FC236}">
                <a16:creationId xmlns:a16="http://schemas.microsoft.com/office/drawing/2014/main" id="{81DAB199-DEBC-4028-B5C9-AE3B8E8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276350"/>
            <a:ext cx="2971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关键机制</a:t>
            </a:r>
          </a:p>
        </p:txBody>
      </p:sp>
      <p:sp>
        <p:nvSpPr>
          <p:cNvPr id="9" name="Text-244">
            <a:extLst xmlns:a="http://schemas.openxmlformats.org/drawingml/2006/main">
              <a:ext uri="{FF2B5EF4-FFF2-40B4-BE49-F238E27FC236}">
                <a16:creationId xmlns:a16="http://schemas.microsoft.com/office/drawing/2014/main" id="{7686A98A-0DD5-4879-9973-458BB714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763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教学切口</a:t>
            </a:r>
          </a:p>
        </p:txBody>
      </p:sp>
      <p:sp>
        <p:nvSpPr>
          <p:cNvPr id="10" name="Shape-245">
            <a:extLst xmlns:a="http://schemas.openxmlformats.org/drawingml/2006/main">
              <a:ext uri="{FF2B5EF4-FFF2-40B4-BE49-F238E27FC236}">
                <a16:creationId xmlns:a16="http://schemas.microsoft.com/office/drawing/2014/main" id="{247EEC5A-7BC2-4D3E-9162-765E426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1" name="Text-246">
            <a:extLst xmlns:a="http://schemas.openxmlformats.org/drawingml/2006/main">
              <a:ext uri="{FF2B5EF4-FFF2-40B4-BE49-F238E27FC236}">
                <a16:creationId xmlns:a16="http://schemas.microsoft.com/office/drawing/2014/main" id="{5429A6C1-FF31-4B3B-927A-E50D2F33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95475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41届第6题</a:t>
            </a:r>
          </a:p>
        </p:txBody>
      </p:sp>
      <p:sp>
        <p:nvSpPr>
          <p:cNvPr id="12" name="Text-247">
            <a:extLst xmlns:a="http://schemas.openxmlformats.org/drawingml/2006/main">
              <a:ext uri="{FF2B5EF4-FFF2-40B4-BE49-F238E27FC236}">
                <a16:creationId xmlns:a16="http://schemas.microsoft.com/office/drawing/2014/main" id="{CE24CF42-B9D1-498F-AC62-B32FB1A8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9547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星光引力偏折</a:t>
            </a:r>
          </a:p>
        </p:txBody>
      </p:sp>
      <p:sp>
        <p:nvSpPr>
          <p:cNvPr id="13" name="Text-248">
            <a:extLst xmlns:a="http://schemas.openxmlformats.org/drawingml/2006/main">
              <a:ext uri="{FF2B5EF4-FFF2-40B4-BE49-F238E27FC236}">
                <a16:creationId xmlns:a16="http://schemas.microsoft.com/office/drawing/2014/main" id="{2914EF9D-B702-4141-A642-0AA2485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9547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条件—关系链</a:t>
            </a:r>
          </a:p>
        </p:txBody>
      </p:sp>
      <p:sp>
        <p:nvSpPr>
          <p:cNvPr id="14" name="Text-249">
            <a:extLst xmlns:a="http://schemas.openxmlformats.org/drawingml/2006/main">
              <a:ext uri="{FF2B5EF4-FFF2-40B4-BE49-F238E27FC236}">
                <a16:creationId xmlns:a16="http://schemas.microsoft.com/office/drawing/2014/main" id="{FC41662A-CF07-4F5F-ABD4-7B00CDEA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57375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比较牛顿近似与相对论路径</a:t>
            </a:r>
          </a:p>
        </p:txBody>
      </p:sp>
      <p:sp>
        <p:nvSpPr>
          <p:cNvPr id="15" name="Shape-250">
            <a:extLst xmlns:a="http://schemas.openxmlformats.org/drawingml/2006/main">
              <a:ext uri="{FF2B5EF4-FFF2-40B4-BE49-F238E27FC236}">
                <a16:creationId xmlns:a16="http://schemas.microsoft.com/office/drawing/2014/main" id="{A4C5E562-19EA-4918-9B61-AA0D956B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16" name="Text-251">
            <a:extLst xmlns:a="http://schemas.openxmlformats.org/drawingml/2006/main">
              <a:ext uri="{FF2B5EF4-FFF2-40B4-BE49-F238E27FC236}">
                <a16:creationId xmlns:a16="http://schemas.microsoft.com/office/drawing/2014/main" id="{7A913EFF-8220-4526-BBA2-E97393AC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71750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41届第7题</a:t>
            </a:r>
          </a:p>
        </p:txBody>
      </p:sp>
      <p:sp>
        <p:nvSpPr>
          <p:cNvPr id="17" name="Text-252">
            <a:extLst xmlns:a="http://schemas.openxmlformats.org/drawingml/2006/main">
              <a:ext uri="{FF2B5EF4-FFF2-40B4-BE49-F238E27FC236}">
                <a16:creationId xmlns:a16="http://schemas.microsoft.com/office/drawing/2014/main" id="{243DF773-666E-46C9-B964-B06CBFC8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超导量子环</a:t>
            </a:r>
          </a:p>
        </p:txBody>
      </p:sp>
      <p:sp>
        <p:nvSpPr>
          <p:cNvPr id="18" name="Text-253">
            <a:extLst xmlns:a="http://schemas.openxmlformats.org/drawingml/2006/main">
              <a:ext uri="{FF2B5EF4-FFF2-40B4-BE49-F238E27FC236}">
                <a16:creationId xmlns:a16="http://schemas.microsoft.com/office/drawing/2014/main" id="{56E848EB-FB10-4D34-9DBA-DB9F029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状态分类与比较</a:t>
            </a:r>
          </a:p>
        </p:txBody>
      </p:sp>
      <p:sp>
        <p:nvSpPr>
          <p:cNvPr id="19" name="Text-254">
            <a:extLst xmlns:a="http://schemas.openxmlformats.org/drawingml/2006/main">
              <a:ext uri="{FF2B5EF4-FFF2-40B4-BE49-F238E27FC236}">
                <a16:creationId xmlns:a16="http://schemas.microsoft.com/office/drawing/2014/main" id="{0A5BB9AA-75D0-4D04-96F8-EFACFA8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33650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用奇偶性组织分段结论</a:t>
            </a:r>
          </a:p>
        </p:txBody>
      </p:sp>
      <p:sp>
        <p:nvSpPr>
          <p:cNvPr id="20" name="Shape-255">
            <a:extLst xmlns:a="http://schemas.openxmlformats.org/drawingml/2006/main">
              <a:ext uri="{FF2B5EF4-FFF2-40B4-BE49-F238E27FC236}">
                <a16:creationId xmlns:a16="http://schemas.microsoft.com/office/drawing/2014/main" id="{180502A5-A17D-4DC4-91B6-53D5C55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1" name="Text-256">
            <a:extLst xmlns:a="http://schemas.openxmlformats.org/drawingml/2006/main">
              <a:ext uri="{FF2B5EF4-FFF2-40B4-BE49-F238E27FC236}">
                <a16:creationId xmlns:a16="http://schemas.microsoft.com/office/drawing/2014/main" id="{20B7B04B-5BD0-4570-82EC-1A8CFAB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48025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42届第4题</a:t>
            </a:r>
          </a:p>
        </p:txBody>
      </p:sp>
      <p:sp>
        <p:nvSpPr>
          <p:cNvPr id="22" name="Text-257">
            <a:extLst xmlns:a="http://schemas.openxmlformats.org/drawingml/2006/main">
              <a:ext uri="{FF2B5EF4-FFF2-40B4-BE49-F238E27FC236}">
                <a16:creationId xmlns:a16="http://schemas.microsoft.com/office/drawing/2014/main" id="{4CD08EA1-AF13-4C35-B674-1ED75B75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4802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强激光加速电子</a:t>
            </a:r>
          </a:p>
        </p:txBody>
      </p:sp>
      <p:sp>
        <p:nvSpPr>
          <p:cNvPr id="23" name="Text-258">
            <a:extLst xmlns:a="http://schemas.openxmlformats.org/drawingml/2006/main">
              <a:ext uri="{FF2B5EF4-FFF2-40B4-BE49-F238E27FC236}">
                <a16:creationId xmlns:a16="http://schemas.microsoft.com/office/drawing/2014/main" id="{ADFAC5D0-DEA2-4EBE-89D7-A668A17F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4802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近似条件建模</a:t>
            </a:r>
          </a:p>
        </p:txBody>
      </p:sp>
      <p:sp>
        <p:nvSpPr>
          <p:cNvPr id="24" name="Text-259">
            <a:extLst xmlns:a="http://schemas.openxmlformats.org/drawingml/2006/main">
              <a:ext uri="{FF2B5EF4-FFF2-40B4-BE49-F238E27FC236}">
                <a16:creationId xmlns:a16="http://schemas.microsoft.com/office/drawing/2014/main" id="{11774E60-A0DF-4019-B72D-1B5C94FD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追问近似成立的物理边界</a:t>
            </a:r>
          </a:p>
        </p:txBody>
      </p:sp>
      <p:sp>
        <p:nvSpPr>
          <p:cNvPr id="25" name="Shape-260">
            <a:extLst xmlns:a="http://schemas.openxmlformats.org/drawingml/2006/main">
              <a:ext uri="{FF2B5EF4-FFF2-40B4-BE49-F238E27FC236}">
                <a16:creationId xmlns:a16="http://schemas.microsoft.com/office/drawing/2014/main" id="{BC334593-8D74-4C3D-8764-8B447610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6" name="Text-261">
            <a:extLst xmlns:a="http://schemas.openxmlformats.org/drawingml/2006/main">
              <a:ext uri="{FF2B5EF4-FFF2-40B4-BE49-F238E27FC236}">
                <a16:creationId xmlns:a16="http://schemas.microsoft.com/office/drawing/2014/main" id="{A00D7112-AAB4-403E-9DB1-FCD8872C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24300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37届第6题</a:t>
            </a:r>
          </a:p>
        </p:txBody>
      </p:sp>
      <p:sp>
        <p:nvSpPr>
          <p:cNvPr id="27" name="Text-262">
            <a:extLst xmlns:a="http://schemas.openxmlformats.org/drawingml/2006/main">
              <a:ext uri="{FF2B5EF4-FFF2-40B4-BE49-F238E27FC236}">
                <a16:creationId xmlns:a16="http://schemas.microsoft.com/office/drawing/2014/main" id="{993E194C-96D0-431A-9E2E-AF062071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2430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旋转光学谐振腔</a:t>
            </a:r>
          </a:p>
        </p:txBody>
      </p:sp>
      <p:sp>
        <p:nvSpPr>
          <p:cNvPr id="28" name="Text-263">
            <a:extLst xmlns:a="http://schemas.openxmlformats.org/drawingml/2006/main">
              <a:ext uri="{FF2B5EF4-FFF2-40B4-BE49-F238E27FC236}">
                <a16:creationId xmlns:a16="http://schemas.microsoft.com/office/drawing/2014/main" id="{1F01F9D3-6B58-4014-9DBE-9CCC3030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243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同对象控制比较</a:t>
            </a:r>
          </a:p>
        </p:txBody>
      </p:sp>
      <p:sp>
        <p:nvSpPr>
          <p:cNvPr id="29" name="Text-264">
            <a:extLst xmlns:a="http://schemas.openxmlformats.org/drawingml/2006/main">
              <a:ext uri="{FF2B5EF4-FFF2-40B4-BE49-F238E27FC236}">
                <a16:creationId xmlns:a16="http://schemas.microsoft.com/office/drawing/2014/main" id="{6FF8A50F-0801-465D-95A2-45B742F1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区分共同量与差异量</a:t>
            </a:r>
          </a:p>
        </p:txBody>
      </p:sp>
      <p:sp>
        <p:nvSpPr>
          <p:cNvPr id="30" name="Shape-265">
            <a:extLst xmlns:a="http://schemas.openxmlformats.org/drawingml/2006/main">
              <a:ext uri="{FF2B5EF4-FFF2-40B4-BE49-F238E27FC236}">
                <a16:creationId xmlns:a16="http://schemas.microsoft.com/office/drawing/2014/main" id="{17463396-D5BB-40FC-A5FE-C4CBC030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48175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31" name="Text-266">
            <a:extLst xmlns:a="http://schemas.openxmlformats.org/drawingml/2006/main">
              <a:ext uri="{FF2B5EF4-FFF2-40B4-BE49-F238E27FC236}">
                <a16:creationId xmlns:a16="http://schemas.microsoft.com/office/drawing/2014/main" id="{FA0987E1-C74E-4D77-939F-2527C2C3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00575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40届第3题</a:t>
            </a:r>
          </a:p>
        </p:txBody>
      </p:sp>
      <p:sp>
        <p:nvSpPr>
          <p:cNvPr id="32" name="Text-267">
            <a:extLst xmlns:a="http://schemas.openxmlformats.org/drawingml/2006/main">
              <a:ext uri="{FF2B5EF4-FFF2-40B4-BE49-F238E27FC236}">
                <a16:creationId xmlns:a16="http://schemas.microsoft.com/office/drawing/2014/main" id="{80165491-A516-4F6B-8C7A-3A9E6F48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00575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可动斜面上的滚动</a:t>
            </a:r>
          </a:p>
        </p:txBody>
      </p:sp>
      <p:sp>
        <p:nvSpPr>
          <p:cNvPr id="33" name="Text-268">
            <a:extLst xmlns:a="http://schemas.openxmlformats.org/drawingml/2006/main">
              <a:ext uri="{FF2B5EF4-FFF2-40B4-BE49-F238E27FC236}">
                <a16:creationId xmlns:a16="http://schemas.microsoft.com/office/drawing/2014/main" id="{85F56D9E-6B78-4383-9CD5-BC208524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00575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多对象约束</a:t>
            </a:r>
          </a:p>
        </p:txBody>
      </p:sp>
      <p:sp>
        <p:nvSpPr>
          <p:cNvPr id="34" name="Text-269">
            <a:extLst xmlns:a="http://schemas.openxmlformats.org/drawingml/2006/main">
              <a:ext uri="{FF2B5EF4-FFF2-40B4-BE49-F238E27FC236}">
                <a16:creationId xmlns:a16="http://schemas.microsoft.com/office/drawing/2014/main" id="{E41CB654-481C-4965-BCD6-E5AE007B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62475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显化平动、转动与约束关系</a:t>
            </a:r>
          </a:p>
        </p:txBody>
      </p:sp>
      <p:sp>
        <p:nvSpPr>
          <p:cNvPr id="35" name="Shape-270">
            <a:extLst xmlns:a="http://schemas.openxmlformats.org/drawingml/2006/main">
              <a:ext uri="{FF2B5EF4-FFF2-40B4-BE49-F238E27FC236}">
                <a16:creationId xmlns:a16="http://schemas.microsoft.com/office/drawing/2014/main" id="{FC85D6F0-D351-48DD-AEFD-8239F04C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10680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36" name="Text-271">
            <a:extLst xmlns:a="http://schemas.openxmlformats.org/drawingml/2006/main">
              <a:ext uri="{FF2B5EF4-FFF2-40B4-BE49-F238E27FC236}">
                <a16:creationId xmlns:a16="http://schemas.microsoft.com/office/drawing/2014/main" id="{F46834AA-1DA7-4444-87FD-A2675E8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276850"/>
            <a:ext cx="131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40届第7题</a:t>
            </a:r>
          </a:p>
        </p:txBody>
      </p:sp>
      <p:sp>
        <p:nvSpPr>
          <p:cNvPr id="37" name="Text-272">
            <a:extLst xmlns:a="http://schemas.openxmlformats.org/drawingml/2006/main">
              <a:ext uri="{FF2B5EF4-FFF2-40B4-BE49-F238E27FC236}">
                <a16:creationId xmlns:a16="http://schemas.microsoft.com/office/drawing/2014/main" id="{DC6D7A79-3B89-4A40-8C9F-CB6597EA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768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大气声线折射</a:t>
            </a:r>
          </a:p>
        </p:txBody>
      </p:sp>
      <p:sp>
        <p:nvSpPr>
          <p:cNvPr id="38" name="Text-273">
            <a:extLst xmlns:a="http://schemas.openxmlformats.org/drawingml/2006/main">
              <a:ext uri="{FF2B5EF4-FFF2-40B4-BE49-F238E27FC236}">
                <a16:creationId xmlns:a16="http://schemas.microsoft.com/office/drawing/2014/main" id="{F375F997-EC5D-4693-9C48-FBA8C1C4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768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阈值与临界判断</a:t>
            </a:r>
          </a:p>
        </p:txBody>
      </p:sp>
      <p:sp>
        <p:nvSpPr>
          <p:cNvPr id="39" name="Text-274">
            <a:extLst xmlns:a="http://schemas.openxmlformats.org/drawingml/2006/main">
              <a:ext uri="{FF2B5EF4-FFF2-40B4-BE49-F238E27FC236}">
                <a16:creationId xmlns:a16="http://schemas.microsoft.com/office/drawing/2014/main" id="{4444AFFF-2A36-41EC-BA6B-3BBB6B58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38750"/>
            <a:ext cx="29908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把参数变化转为传播路径判断</a:t>
            </a:r>
          </a:p>
        </p:txBody>
      </p:sp>
      <p:sp>
        <p:nvSpPr>
          <p:cNvPr id="40" name="Text-279">
            <a:extLst xmlns:a="http://schemas.openxmlformats.org/drawingml/2006/main">
              <a:ext uri="{FF2B5EF4-FFF2-40B4-BE49-F238E27FC236}">
                <a16:creationId xmlns:a16="http://schemas.microsoft.com/office/drawing/2014/main" id="{EEF2E883-5EC3-4D4E-88DC-47AC5163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43548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298">
            <a:extLst xmlns:a="http://schemas.openxmlformats.org/drawingml/2006/main">
              <a:ext uri="{FF2B5EF4-FFF2-40B4-BE49-F238E27FC236}">
                <a16:creationId xmlns:a16="http://schemas.microsoft.com/office/drawing/2014/main" id="{1167DF2C-26C6-4AD9-A634-9B825FD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299">
            <a:extLst xmlns:a="http://schemas.openxmlformats.org/drawingml/2006/main">
              <a:ext uri="{FF2B5EF4-FFF2-40B4-BE49-F238E27FC236}">
                <a16:creationId xmlns:a16="http://schemas.microsoft.com/office/drawing/2014/main" id="{AA775F7B-3CE8-4C5D-B217-0DF1C9E8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300">
            <a:extLst xmlns:a="http://schemas.openxmlformats.org/drawingml/2006/main">
              <a:ext uri="{FF2B5EF4-FFF2-40B4-BE49-F238E27FC236}">
                <a16:creationId xmlns:a16="http://schemas.microsoft.com/office/drawing/2014/main" id="{C4F19112-43C5-45F3-B667-4054D7C8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案例一：星光引力偏折——把连续条件组织成推理链</a:t>
            </a:r>
          </a:p>
        </p:txBody>
      </p:sp>
      <p:sp>
        <p:nvSpPr>
          <p:cNvPr id="4" name="Text-301">
            <a:extLst xmlns:a="http://schemas.openxmlformats.org/drawingml/2006/main">
              <a:ext uri="{FF2B5EF4-FFF2-40B4-BE49-F238E27FC236}">
                <a16:creationId xmlns:a16="http://schemas.microsoft.com/office/drawing/2014/main" id="{7B772B22-0FE2-4D74-A8F1-1C6AD5A8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280">
            <a:extLst xmlns:a="http://schemas.openxmlformats.org/drawingml/2006/main">
              <a:ext uri="{FF2B5EF4-FFF2-40B4-BE49-F238E27FC236}">
                <a16:creationId xmlns:a16="http://schemas.microsoft.com/office/drawing/2014/main" id="{CCC8EA6B-F04F-4205-9ACC-7ECC23B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4762500" cy="2505075"/>
          </a:xfrm>
          <a:prstGeom xmlns:a="http://schemas.openxmlformats.org/drawingml/2006/main" prst="roundRect">
            <a:avLst>
              <a:gd name="adj" fmla="val 3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Text-281">
            <a:extLst xmlns:a="http://schemas.openxmlformats.org/drawingml/2006/main">
              <a:ext uri="{FF2B5EF4-FFF2-40B4-BE49-F238E27FC236}">
                <a16:creationId xmlns:a16="http://schemas.microsoft.com/office/drawing/2014/main" id="{6F223C8D-1731-42DD-BC0F-CDB9801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95400"/>
            <a:ext cx="57626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题目情境（第41届第6题节选）</a:t>
            </a:r>
          </a:p>
        </p:txBody>
      </p:sp>
      <p:sp>
        <p:nvSpPr>
          <p:cNvPr id="7" name="Text-282">
            <a:extLst xmlns:a="http://schemas.openxmlformats.org/drawingml/2006/main">
              <a:ext uri="{FF2B5EF4-FFF2-40B4-BE49-F238E27FC236}">
                <a16:creationId xmlns:a16="http://schemas.microsoft.com/office/drawing/2014/main" id="{D4C904B5-96B6-4512-B48C-04250332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43075"/>
            <a:ext cx="5762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质量为 M 的天体附近有一束星光，以速度 v₀、瞄准距离 b 掠过。</a:t>
            </a:r>
            <a:br/>
            <a:r>
              <a:rPr>
                <a:latin typeface="Arial Unicode MS"/>
              </a:rPr>
              <a:t>要求在弱偏折近似下建立运动关系并求偏转角。</a:t>
            </a:r>
          </a:p>
        </p:txBody>
      </p:sp>
      <p:sp>
        <p:nvSpPr>
          <p:cNvPr id="8" name="Shape-283">
            <a:extLst xmlns:a="http://schemas.openxmlformats.org/drawingml/2006/main">
              <a:ext uri="{FF2B5EF4-FFF2-40B4-BE49-F238E27FC236}">
                <a16:creationId xmlns:a16="http://schemas.microsoft.com/office/drawing/2014/main" id="{7A687678-AAE5-453E-9B9A-85C39ED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38450"/>
            <a:ext cx="5762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9" name="Text-284">
            <a:extLst xmlns:a="http://schemas.openxmlformats.org/drawingml/2006/main">
              <a:ext uri="{FF2B5EF4-FFF2-40B4-BE49-F238E27FC236}">
                <a16:creationId xmlns:a16="http://schemas.microsoft.com/office/drawing/2014/main" id="{2519AE11-CE4F-4BC0-B78F-16C17615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62275"/>
            <a:ext cx="528637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Δφ ≃ 2GM / (v₀²b)</a:t>
            </a:r>
          </a:p>
        </p:txBody>
      </p:sp>
      <p:sp>
        <p:nvSpPr>
          <p:cNvPr id="10" name="Text-285">
            <a:extLst xmlns:a="http://schemas.openxmlformats.org/drawingml/2006/main">
              <a:ext uri="{FF2B5EF4-FFF2-40B4-BE49-F238E27FC236}">
                <a16:creationId xmlns:a16="http://schemas.microsoft.com/office/drawing/2014/main" id="{234BBC35-B1C6-4CD5-A758-B8F6146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认知机制</a:t>
            </a:r>
          </a:p>
        </p:txBody>
      </p:sp>
      <p:sp>
        <p:nvSpPr>
          <p:cNvPr id="11" name="Shape-286">
            <a:extLst xmlns:a="http://schemas.openxmlformats.org/drawingml/2006/main">
              <a:ext uri="{FF2B5EF4-FFF2-40B4-BE49-F238E27FC236}">
                <a16:creationId xmlns:a16="http://schemas.microsoft.com/office/drawing/2014/main" id="{C3A767EB-DE67-4047-94D9-BEB01FFB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1081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2" name="Shape-287">
            <a:extLst xmlns:a="http://schemas.openxmlformats.org/drawingml/2006/main">
              <a:ext uri="{FF2B5EF4-FFF2-40B4-BE49-F238E27FC236}">
                <a16:creationId xmlns:a16="http://schemas.microsoft.com/office/drawing/2014/main" id="{4847B749-22E4-45F4-BCA9-A33103C5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13" name="Text-288">
            <a:extLst xmlns:a="http://schemas.openxmlformats.org/drawingml/2006/main">
              <a:ext uri="{FF2B5EF4-FFF2-40B4-BE49-F238E27FC236}">
                <a16:creationId xmlns:a16="http://schemas.microsoft.com/office/drawing/2014/main" id="{881490EC-C428-4134-AF0D-001B0E4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  近似条件</a:t>
            </a:r>
          </a:p>
        </p:txBody>
      </p:sp>
      <p:sp>
        <p:nvSpPr>
          <p:cNvPr id="14" name="Text-289">
            <a:extLst xmlns:a="http://schemas.openxmlformats.org/drawingml/2006/main">
              <a:ext uri="{FF2B5EF4-FFF2-40B4-BE49-F238E27FC236}">
                <a16:creationId xmlns:a16="http://schemas.microsoft.com/office/drawing/2014/main" id="{7A81B6DE-0270-4D68-9BC1-11BC8F0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57725"/>
            <a:ext cx="81438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小偏折使轨道可用未扰动直线近似</a:t>
            </a:r>
          </a:p>
        </p:txBody>
      </p:sp>
      <p:sp>
        <p:nvSpPr>
          <p:cNvPr id="15" name="Shape-290">
            <a:extLst xmlns:a="http://schemas.openxmlformats.org/drawingml/2006/main">
              <a:ext uri="{FF2B5EF4-FFF2-40B4-BE49-F238E27FC236}">
                <a16:creationId xmlns:a16="http://schemas.microsoft.com/office/drawing/2014/main" id="{10D1DCEA-109C-4BEC-B1FA-B7512822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1081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16" name="Shape-291">
            <a:extLst xmlns:a="http://schemas.openxmlformats.org/drawingml/2006/main">
              <a:ext uri="{FF2B5EF4-FFF2-40B4-BE49-F238E27FC236}">
                <a16:creationId xmlns:a16="http://schemas.microsoft.com/office/drawing/2014/main" id="{37818692-C22A-4AA0-A5A0-42D10D58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7" name="Text-292">
            <a:extLst xmlns:a="http://schemas.openxmlformats.org/drawingml/2006/main">
              <a:ext uri="{FF2B5EF4-FFF2-40B4-BE49-F238E27FC236}">
                <a16:creationId xmlns:a16="http://schemas.microsoft.com/office/drawing/2014/main" id="{69AD3817-C6AD-4FE2-BFA5-5046559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  关系组织</a:t>
            </a:r>
          </a:p>
        </p:txBody>
      </p:sp>
      <p:sp>
        <p:nvSpPr>
          <p:cNvPr id="18" name="Text-293">
            <a:extLst xmlns:a="http://schemas.openxmlformats.org/drawingml/2006/main">
              <a:ext uri="{FF2B5EF4-FFF2-40B4-BE49-F238E27FC236}">
                <a16:creationId xmlns:a16="http://schemas.microsoft.com/office/drawing/2014/main" id="{85329227-9894-41AD-B19E-91BE19A2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76850"/>
            <a:ext cx="81438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横向力 → 冲量 → 速度偏转 → 角度</a:t>
            </a:r>
          </a:p>
        </p:txBody>
      </p:sp>
      <p:sp>
        <p:nvSpPr>
          <p:cNvPr id="19" name="Shape-294">
            <a:extLst xmlns:a="http://schemas.openxmlformats.org/drawingml/2006/main">
              <a:ext uri="{FF2B5EF4-FFF2-40B4-BE49-F238E27FC236}">
                <a16:creationId xmlns:a16="http://schemas.microsoft.com/office/drawing/2014/main" id="{B89A0387-52E6-413D-AC7A-1501EB8A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108108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0" name="Shape-295">
            <a:extLst xmlns:a="http://schemas.openxmlformats.org/drawingml/2006/main">
              <a:ext uri="{FF2B5EF4-FFF2-40B4-BE49-F238E27FC236}">
                <a16:creationId xmlns:a16="http://schemas.microsoft.com/office/drawing/2014/main" id="{D9B0AE55-1BFD-4A65-A279-C5F67A5F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72150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21" name="Text-296">
            <a:extLst xmlns:a="http://schemas.openxmlformats.org/drawingml/2006/main">
              <a:ext uri="{FF2B5EF4-FFF2-40B4-BE49-F238E27FC236}">
                <a16:creationId xmlns:a16="http://schemas.microsoft.com/office/drawing/2014/main" id="{69059E1A-025B-4F0E-91A1-E21DB994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  教学转化</a:t>
            </a:r>
          </a:p>
        </p:txBody>
      </p:sp>
      <p:sp>
        <p:nvSpPr>
          <p:cNvPr id="22" name="Text-297">
            <a:extLst xmlns:a="http://schemas.openxmlformats.org/drawingml/2006/main">
              <a:ext uri="{FF2B5EF4-FFF2-40B4-BE49-F238E27FC236}">
                <a16:creationId xmlns:a16="http://schemas.microsoft.com/office/drawing/2014/main" id="{3260C912-6258-4AAF-B3DC-BA728F6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95975"/>
            <a:ext cx="81438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先画“条件—关系图”，再进入积分与数量计算</a:t>
            </a:r>
          </a:p>
        </p:txBody>
      </p:sp>
      <p:sp>
        <p:nvSpPr>
          <p:cNvPr id="23" name="Text-302">
            <a:extLst xmlns:a="http://schemas.openxmlformats.org/drawingml/2006/main">
              <a:ext uri="{FF2B5EF4-FFF2-40B4-BE49-F238E27FC236}">
                <a16:creationId xmlns:a16="http://schemas.microsoft.com/office/drawing/2014/main" id="{9F2CFA86-2543-469D-A9CA-B7C36E39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56167c0804f82"/>
          <a:stretch xmlns:a="http://schemas.openxmlformats.org/drawingml/2006/main"/>
        </p:blipFill>
        <p:spPr>
          <a:xfrm xmlns:a="http://schemas.openxmlformats.org/drawingml/2006/main">
            <a:off x="1157019" y="1619250"/>
            <a:ext cx="3486687" cy="175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48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-326">
            <a:extLst xmlns:a="http://schemas.openxmlformats.org/drawingml/2006/main">
              <a:ext uri="{FF2B5EF4-FFF2-40B4-BE49-F238E27FC236}">
                <a16:creationId xmlns:a16="http://schemas.microsoft.com/office/drawing/2014/main" id="{B937EEDA-BD33-4AED-825A-CCC57604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327">
            <a:extLst xmlns:a="http://schemas.openxmlformats.org/drawingml/2006/main">
              <a:ext uri="{FF2B5EF4-FFF2-40B4-BE49-F238E27FC236}">
                <a16:creationId xmlns:a16="http://schemas.microsoft.com/office/drawing/2014/main" id="{BA92BDE8-1F1B-4A7D-8D01-6C1BF528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328">
            <a:extLst xmlns:a="http://schemas.openxmlformats.org/drawingml/2006/main">
              <a:ext uri="{FF2B5EF4-FFF2-40B4-BE49-F238E27FC236}">
                <a16:creationId xmlns:a16="http://schemas.microsoft.com/office/drawing/2014/main" id="{C4DECF46-BD3B-4B9A-B9DB-56C5117D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2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案例二：可动斜面滚动——多对象与多约束的同步建模</a:t>
            </a:r>
          </a:p>
        </p:txBody>
      </p:sp>
      <p:sp>
        <p:nvSpPr>
          <p:cNvPr id="4" name="Text-329">
            <a:extLst xmlns:a="http://schemas.openxmlformats.org/drawingml/2006/main">
              <a:ext uri="{FF2B5EF4-FFF2-40B4-BE49-F238E27FC236}">
                <a16:creationId xmlns:a16="http://schemas.microsoft.com/office/drawing/2014/main" id="{63A235F6-E3B1-4D5B-8D38-66B6040D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303">
            <a:extLst xmlns:a="http://schemas.openxmlformats.org/drawingml/2006/main">
              <a:ext uri="{FF2B5EF4-FFF2-40B4-BE49-F238E27FC236}">
                <a16:creationId xmlns:a16="http://schemas.microsoft.com/office/drawing/2014/main" id="{B42B21DE-FE98-46F8-93D0-0B79BDE1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47775"/>
            <a:ext cx="4762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Text-304">
            <a:extLst xmlns:a="http://schemas.openxmlformats.org/drawingml/2006/main">
              <a:ext uri="{FF2B5EF4-FFF2-40B4-BE49-F238E27FC236}">
                <a16:creationId xmlns:a16="http://schemas.microsoft.com/office/drawing/2014/main" id="{DA6FC840-19A7-4C45-B743-4B0A66ED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295400"/>
            <a:ext cx="57626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题目情境（第40届第3题节选）</a:t>
            </a:r>
          </a:p>
        </p:txBody>
      </p:sp>
      <p:sp>
        <p:nvSpPr>
          <p:cNvPr id="7" name="Text-305">
            <a:extLst xmlns:a="http://schemas.openxmlformats.org/drawingml/2006/main">
              <a:ext uri="{FF2B5EF4-FFF2-40B4-BE49-F238E27FC236}">
                <a16:creationId xmlns:a16="http://schemas.microsoft.com/office/drawing/2014/main" id="{91A6037D-0CC4-4132-99C3-527C58F2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43075"/>
            <a:ext cx="5762625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圆柱在可水平移动的斜面上纯滚动。</a:t>
            </a:r>
            <a:br/>
            <a:r>
              <a:rPr>
                <a:latin typeface="Arial Unicode MS"/>
              </a:rPr>
              <a:t>系统同时包含圆柱的平动、转动、</a:t>
            </a:r>
            <a:br/>
            <a:r>
              <a:rPr>
                <a:latin typeface="Arial Unicode MS"/>
              </a:rPr>
              <a:t>斜面的平动以及接触处无滑动约束。</a:t>
            </a:r>
          </a:p>
        </p:txBody>
      </p:sp>
      <p:sp>
        <p:nvSpPr>
          <p:cNvPr id="8" name="Shape-306">
            <a:extLst xmlns:a="http://schemas.openxmlformats.org/drawingml/2006/main">
              <a:ext uri="{FF2B5EF4-FFF2-40B4-BE49-F238E27FC236}">
                <a16:creationId xmlns:a16="http://schemas.microsoft.com/office/drawing/2014/main" id="{E8A92785-D8D1-47A9-B326-EAF93748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38450"/>
            <a:ext cx="5762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9" name="Text-307">
            <a:extLst xmlns:a="http://schemas.openxmlformats.org/drawingml/2006/main">
              <a:ext uri="{FF2B5EF4-FFF2-40B4-BE49-F238E27FC236}">
                <a16:creationId xmlns:a16="http://schemas.microsoft.com/office/drawing/2014/main" id="{220CEB2F-2F11-402F-B815-449663C6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962275"/>
            <a:ext cx="54197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μ₀ = [2(M+m)/(7M+2m)] tan θ</a:t>
            </a:r>
          </a:p>
        </p:txBody>
      </p:sp>
      <p:sp>
        <p:nvSpPr>
          <p:cNvPr id="10" name="Text-308">
            <a:extLst xmlns:a="http://schemas.openxmlformats.org/drawingml/2006/main">
              <a:ext uri="{FF2B5EF4-FFF2-40B4-BE49-F238E27FC236}">
                <a16:creationId xmlns:a16="http://schemas.microsoft.com/office/drawing/2014/main" id="{DD75744A-640B-4043-9383-31948D1B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81450"/>
            <a:ext cx="108108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高要求来自四类关系的同时闭合</a:t>
            </a:r>
          </a:p>
        </p:txBody>
      </p:sp>
      <p:sp>
        <p:nvSpPr>
          <p:cNvPr id="11" name="Shape-309">
            <a:extLst xmlns:a="http://schemas.openxmlformats.org/drawingml/2006/main">
              <a:ext uri="{FF2B5EF4-FFF2-40B4-BE49-F238E27FC236}">
                <a16:creationId xmlns:a16="http://schemas.microsoft.com/office/drawing/2014/main" id="{0BD9F900-205D-4EE8-BD19-A4C3AF3F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81525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2" name="Shape-310">
            <a:extLst xmlns:a="http://schemas.openxmlformats.org/drawingml/2006/main">
              <a:ext uri="{FF2B5EF4-FFF2-40B4-BE49-F238E27FC236}">
                <a16:creationId xmlns:a16="http://schemas.microsoft.com/office/drawing/2014/main" id="{EE80F4F8-9876-40CC-972B-0AA2633C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81525"/>
            <a:ext cx="2524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13" name="Text-311">
            <a:extLst xmlns:a="http://schemas.openxmlformats.org/drawingml/2006/main">
              <a:ext uri="{FF2B5EF4-FFF2-40B4-BE49-F238E27FC236}">
                <a16:creationId xmlns:a16="http://schemas.microsoft.com/office/drawing/2014/main" id="{DC9DAB0E-55E0-4C79-8E81-ADEF1D66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006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对象</a:t>
            </a:r>
          </a:p>
        </p:txBody>
      </p:sp>
      <p:sp>
        <p:nvSpPr>
          <p:cNvPr id="14" name="Text-312">
            <a:extLst xmlns:a="http://schemas.openxmlformats.org/drawingml/2006/main">
              <a:ext uri="{FF2B5EF4-FFF2-40B4-BE49-F238E27FC236}">
                <a16:creationId xmlns:a16="http://schemas.microsoft.com/office/drawing/2014/main" id="{604AD9AA-1299-4630-BE64-857FB98F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91125"/>
            <a:ext cx="215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圆柱 + 斜面</a:t>
            </a:r>
          </a:p>
        </p:txBody>
      </p:sp>
      <p:sp>
        <p:nvSpPr>
          <p:cNvPr id="15" name="Shape-313">
            <a:extLst xmlns:a="http://schemas.openxmlformats.org/drawingml/2006/main">
              <a:ext uri="{FF2B5EF4-FFF2-40B4-BE49-F238E27FC236}">
                <a16:creationId xmlns:a16="http://schemas.microsoft.com/office/drawing/2014/main" id="{A9717BC2-AD6A-4574-B1C2-0AE37913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81525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16" name="Shape-314">
            <a:extLst xmlns:a="http://schemas.openxmlformats.org/drawingml/2006/main">
              <a:ext uri="{FF2B5EF4-FFF2-40B4-BE49-F238E27FC236}">
                <a16:creationId xmlns:a16="http://schemas.microsoft.com/office/drawing/2014/main" id="{71E133DC-6546-49D8-8729-D3798310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81525"/>
            <a:ext cx="2524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7" name="Text-315">
            <a:extLst xmlns:a="http://schemas.openxmlformats.org/drawingml/2006/main">
              <a:ext uri="{FF2B5EF4-FFF2-40B4-BE49-F238E27FC236}">
                <a16:creationId xmlns:a16="http://schemas.microsoft.com/office/drawing/2014/main" id="{21427A9F-E4FC-42F0-A794-F0B4725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8006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运动</a:t>
            </a:r>
          </a:p>
        </p:txBody>
      </p:sp>
      <p:sp>
        <p:nvSpPr>
          <p:cNvPr id="18" name="Text-316">
            <a:extLst xmlns:a="http://schemas.openxmlformats.org/drawingml/2006/main">
              <a:ext uri="{FF2B5EF4-FFF2-40B4-BE49-F238E27FC236}">
                <a16:creationId xmlns:a16="http://schemas.microsoft.com/office/drawing/2014/main" id="{EEBB51B3-C9FA-4ABC-8A9F-14DD7F07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91125"/>
            <a:ext cx="215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平动 + 转动</a:t>
            </a:r>
          </a:p>
        </p:txBody>
      </p:sp>
      <p:sp>
        <p:nvSpPr>
          <p:cNvPr id="19" name="Shape-317">
            <a:extLst xmlns:a="http://schemas.openxmlformats.org/drawingml/2006/main">
              <a:ext uri="{FF2B5EF4-FFF2-40B4-BE49-F238E27FC236}">
                <a16:creationId xmlns:a16="http://schemas.microsoft.com/office/drawing/2014/main" id="{A1DB01DD-2E77-44A9-976E-B6582D6C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581525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0" name="Shape-318">
            <a:extLst xmlns:a="http://schemas.openxmlformats.org/drawingml/2006/main">
              <a:ext uri="{FF2B5EF4-FFF2-40B4-BE49-F238E27FC236}">
                <a16:creationId xmlns:a16="http://schemas.microsoft.com/office/drawing/2014/main" id="{482D794D-D1F7-475A-AAF6-FDE46F8C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581525"/>
            <a:ext cx="2524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21" name="Text-319">
            <a:extLst xmlns:a="http://schemas.openxmlformats.org/drawingml/2006/main">
              <a:ext uri="{FF2B5EF4-FFF2-40B4-BE49-F238E27FC236}">
                <a16:creationId xmlns:a16="http://schemas.microsoft.com/office/drawing/2014/main" id="{CA3E22C9-A30D-4690-80DC-ACACA3AB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006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相互作用</a:t>
            </a:r>
          </a:p>
        </p:txBody>
      </p:sp>
      <p:sp>
        <p:nvSpPr>
          <p:cNvPr id="22" name="Text-320">
            <a:extLst xmlns:a="http://schemas.openxmlformats.org/drawingml/2006/main">
              <a:ext uri="{FF2B5EF4-FFF2-40B4-BE49-F238E27FC236}">
                <a16:creationId xmlns:a16="http://schemas.microsoft.com/office/drawing/2014/main" id="{9A75F94D-86F0-4E40-805E-794B543E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91125"/>
            <a:ext cx="215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支持力 + 摩擦力</a:t>
            </a:r>
          </a:p>
        </p:txBody>
      </p:sp>
      <p:sp>
        <p:nvSpPr>
          <p:cNvPr id="23" name="Shape-321">
            <a:extLst xmlns:a="http://schemas.openxmlformats.org/drawingml/2006/main">
              <a:ext uri="{FF2B5EF4-FFF2-40B4-BE49-F238E27FC236}">
                <a16:creationId xmlns:a16="http://schemas.microsoft.com/office/drawing/2014/main" id="{E17412F0-FB04-489C-9294-EC6A3BD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81525"/>
            <a:ext cx="25241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4" name="Shape-322">
            <a:extLst xmlns:a="http://schemas.openxmlformats.org/drawingml/2006/main">
              <a:ext uri="{FF2B5EF4-FFF2-40B4-BE49-F238E27FC236}">
                <a16:creationId xmlns:a16="http://schemas.microsoft.com/office/drawing/2014/main" id="{15CBE14D-0A02-4BC2-969C-AECD097E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81525"/>
            <a:ext cx="25241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25" name="Text-323">
            <a:extLst xmlns:a="http://schemas.openxmlformats.org/drawingml/2006/main">
              <a:ext uri="{FF2B5EF4-FFF2-40B4-BE49-F238E27FC236}">
                <a16:creationId xmlns:a16="http://schemas.microsoft.com/office/drawing/2014/main" id="{BCF5D2D6-BC6F-4A20-B820-27FD033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8006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F6B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约束</a:t>
            </a:r>
          </a:p>
        </p:txBody>
      </p:sp>
      <p:sp>
        <p:nvSpPr>
          <p:cNvPr id="26" name="Text-324">
            <a:extLst xmlns:a="http://schemas.openxmlformats.org/drawingml/2006/main">
              <a:ext uri="{FF2B5EF4-FFF2-40B4-BE49-F238E27FC236}">
                <a16:creationId xmlns:a16="http://schemas.microsoft.com/office/drawing/2014/main" id="{D71D0AAD-1927-442B-8FCA-CE21EC88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91125"/>
            <a:ext cx="2152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接触与纯滚动条件</a:t>
            </a:r>
          </a:p>
        </p:txBody>
      </p:sp>
      <p:sp>
        <p:nvSpPr>
          <p:cNvPr id="27" name="Text-325">
            <a:extLst xmlns:a="http://schemas.openxmlformats.org/drawingml/2006/main">
              <a:ext uri="{FF2B5EF4-FFF2-40B4-BE49-F238E27FC236}">
                <a16:creationId xmlns:a16="http://schemas.microsoft.com/office/drawing/2014/main" id="{ED994E32-7456-49D9-BB89-43BEC2E1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08108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教学支架：先建立“对象—方程—约束”表，再进行消元。</a:t>
            </a:r>
          </a:p>
        </p:txBody>
      </p:sp>
      <p:sp>
        <p:nvSpPr>
          <p:cNvPr id="28" name="Text-330">
            <a:extLst xmlns:a="http://schemas.openxmlformats.org/drawingml/2006/main">
              <a:ext uri="{FF2B5EF4-FFF2-40B4-BE49-F238E27FC236}">
                <a16:creationId xmlns:a16="http://schemas.microsoft.com/office/drawing/2014/main" id="{1AE1DC8A-88C1-44DC-9ED0-C564262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14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b552e7a294c24"/>
          <a:stretch xmlns:a="http://schemas.openxmlformats.org/drawingml/2006/main"/>
        </p:blipFill>
        <p:spPr>
          <a:xfrm xmlns:a="http://schemas.openxmlformats.org/drawingml/2006/main">
            <a:off x="1091973" y="1628775"/>
            <a:ext cx="3626304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036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hape-352">
            <a:extLst xmlns:a="http://schemas.openxmlformats.org/drawingml/2006/main">
              <a:ext uri="{FF2B5EF4-FFF2-40B4-BE49-F238E27FC236}">
                <a16:creationId xmlns:a16="http://schemas.microsoft.com/office/drawing/2014/main" id="{E98F1AE6-65CA-4680-BC58-831DA60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353">
            <a:extLst xmlns:a="http://schemas.openxmlformats.org/drawingml/2006/main">
              <a:ext uri="{FF2B5EF4-FFF2-40B4-BE49-F238E27FC236}">
                <a16:creationId xmlns:a16="http://schemas.microsoft.com/office/drawing/2014/main" id="{34A6B777-2635-444F-81D6-02147720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354">
            <a:extLst xmlns:a="http://schemas.openxmlformats.org/drawingml/2006/main">
              <a:ext uri="{FF2B5EF4-FFF2-40B4-BE49-F238E27FC236}">
                <a16:creationId xmlns:a16="http://schemas.microsoft.com/office/drawing/2014/main" id="{601E9950-62EC-444E-A8E2-592A5A49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相邻小问对照：从“证明不能”到“设计如何测”</a:t>
            </a:r>
          </a:p>
        </p:txBody>
      </p:sp>
      <p:sp>
        <p:nvSpPr>
          <p:cNvPr id="4" name="Text-355">
            <a:extLst xmlns:a="http://schemas.openxmlformats.org/drawingml/2006/main">
              <a:ext uri="{FF2B5EF4-FFF2-40B4-BE49-F238E27FC236}">
                <a16:creationId xmlns:a16="http://schemas.microsoft.com/office/drawing/2014/main" id="{1E451744-29C1-4D34-B200-C70C231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331">
            <a:extLst xmlns:a="http://schemas.openxmlformats.org/drawingml/2006/main">
              <a:ext uri="{FF2B5EF4-FFF2-40B4-BE49-F238E27FC236}">
                <a16:creationId xmlns:a16="http://schemas.microsoft.com/office/drawing/2014/main" id="{1DAD826B-9922-4557-8E7E-E79DE9B3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49530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6" name="Shape-332">
            <a:extLst xmlns:a="http://schemas.openxmlformats.org/drawingml/2006/main">
              <a:ext uri="{FF2B5EF4-FFF2-40B4-BE49-F238E27FC236}">
                <a16:creationId xmlns:a16="http://schemas.microsoft.com/office/drawing/2014/main" id="{9EED878D-1DC1-4E4B-95BA-79F15DBE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57300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7" name="Text-333">
            <a:extLst xmlns:a="http://schemas.openxmlformats.org/drawingml/2006/main">
              <a:ext uri="{FF2B5EF4-FFF2-40B4-BE49-F238E27FC236}">
                <a16:creationId xmlns:a16="http://schemas.microsoft.com/office/drawing/2014/main" id="{26D41771-FFB8-4F6E-800B-5D459CFB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第35届第8题（3）</a:t>
            </a:r>
          </a:p>
        </p:txBody>
      </p:sp>
      <p:sp>
        <p:nvSpPr>
          <p:cNvPr id="8" name="Text-334">
            <a:extLst xmlns:a="http://schemas.openxmlformats.org/drawingml/2006/main">
              <a:ext uri="{FF2B5EF4-FFF2-40B4-BE49-F238E27FC236}">
                <a16:creationId xmlns:a16="http://schemas.microsoft.com/office/drawing/2014/main" id="{9A17B658-2781-4EDC-B84B-A79D3382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381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比较发射线与吸收线的能量区间，说明自由原子核因反冲能远大于线宽而不能发生共振吸收。</a:t>
            </a:r>
          </a:p>
        </p:txBody>
      </p:sp>
      <p:sp>
        <p:nvSpPr>
          <p:cNvPr id="9" name="Text-335">
            <a:extLst xmlns:a="http://schemas.openxmlformats.org/drawingml/2006/main">
              <a:ext uri="{FF2B5EF4-FFF2-40B4-BE49-F238E27FC236}">
                <a16:creationId xmlns:a16="http://schemas.microsoft.com/office/drawing/2014/main" id="{959F093A-B290-4EDF-B06F-478749D2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438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任务性质：组织证据支持“不能共振”的结论</a:t>
            </a:r>
          </a:p>
        </p:txBody>
      </p:sp>
      <p:sp>
        <p:nvSpPr>
          <p:cNvPr id="10" name="Shape-336">
            <a:extLst xmlns:a="http://schemas.openxmlformats.org/drawingml/2006/main">
              <a:ext uri="{FF2B5EF4-FFF2-40B4-BE49-F238E27FC236}">
                <a16:creationId xmlns:a16="http://schemas.microsoft.com/office/drawing/2014/main" id="{8CE38894-F9C9-4711-9595-7077A847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257300"/>
            <a:ext cx="5857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11" name="Shape-337">
            <a:extLst xmlns:a="http://schemas.openxmlformats.org/drawingml/2006/main">
              <a:ext uri="{FF2B5EF4-FFF2-40B4-BE49-F238E27FC236}">
                <a16:creationId xmlns:a16="http://schemas.microsoft.com/office/drawing/2014/main" id="{2D7375AD-30A4-4C92-ADEB-08339492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257300"/>
            <a:ext cx="76200" cy="2238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12" name="Text-338">
            <a:extLst xmlns:a="http://schemas.openxmlformats.org/drawingml/2006/main">
              <a:ext uri="{FF2B5EF4-FFF2-40B4-BE49-F238E27FC236}">
                <a16:creationId xmlns:a16="http://schemas.microsoft.com/office/drawing/2014/main" id="{2980CC13-5C1F-4CC1-B683-19292241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第35届第8题（4）</a:t>
            </a:r>
          </a:p>
        </p:txBody>
      </p:sp>
      <p:sp>
        <p:nvSpPr>
          <p:cNvPr id="13" name="Text-339">
            <a:extLst xmlns:a="http://schemas.openxmlformats.org/drawingml/2006/main">
              <a:ext uri="{FF2B5EF4-FFF2-40B4-BE49-F238E27FC236}">
                <a16:creationId xmlns:a16="http://schemas.microsoft.com/office/drawing/2014/main" id="{BB16D213-3EE0-4A3D-8694-19834381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5286375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改用晶格中的原子核消除显著反冲，</a:t>
            </a:r>
            <a:br/>
            <a:r>
              <a:rPr>
                <a:latin typeface="Arial Unicode MS"/>
              </a:rPr>
              <a:t>并通过多普勒速度扫描补偿微小频移，</a:t>
            </a:r>
            <a:br/>
            <a:r>
              <a:rPr>
                <a:latin typeface="Arial Unicode MS"/>
              </a:rPr>
              <a:t>提出可操作的测量方案。</a:t>
            </a:r>
          </a:p>
        </p:txBody>
      </p:sp>
      <p:sp>
        <p:nvSpPr>
          <p:cNvPr id="14" name="Text-340">
            <a:extLst xmlns:a="http://schemas.openxmlformats.org/drawingml/2006/main">
              <a:ext uri="{FF2B5EF4-FFF2-40B4-BE49-F238E27FC236}">
                <a16:creationId xmlns:a16="http://schemas.microsoft.com/office/drawing/2014/main" id="{7868C175-5598-401A-A12E-0BB327E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0375"/>
            <a:ext cx="52863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任务性质：改变条件并设计“怎样测”的方案</a:t>
            </a:r>
          </a:p>
        </p:txBody>
      </p:sp>
      <p:cxnSp>
        <p:nvCxnSpPr>
          <p:cNvPr id="41" name="Rule-341"/>
          <p:cNvCxnSpPr/>
          <p:nvPr/>
        </p:nvCxnSpPr>
        <p:spPr>
          <a:xfrm xmlns:a="http://schemas.openxmlformats.org/drawingml/2006/main">
            <a:off x="857250" y="4314825"/>
            <a:ext cx="10239375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16" name="Text-342">
            <a:extLst xmlns:a="http://schemas.openxmlformats.org/drawingml/2006/main">
              <a:ext uri="{FF2B5EF4-FFF2-40B4-BE49-F238E27FC236}">
                <a16:creationId xmlns:a16="http://schemas.microsoft.com/office/drawing/2014/main" id="{BC357D2B-2568-4D53-9E3B-ACD9AF26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162425"/>
            <a:ext cx="266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ν</a:t>
            </a:r>
          </a:p>
        </p:txBody>
      </p:sp>
      <p:sp>
        <p:nvSpPr>
          <p:cNvPr id="17" name="Shape-343">
            <a:extLst xmlns:a="http://schemas.openxmlformats.org/drawingml/2006/main">
              <a:ext uri="{FF2B5EF4-FFF2-40B4-BE49-F238E27FC236}">
                <a16:creationId xmlns:a16="http://schemas.microsoft.com/office/drawing/2014/main" id="{770F8E4B-A3B3-46C7-B63D-D36191CE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1809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CE8EF"/>
          </a:solidFill>
        </p:spPr>
        <p:txBody xmlns:a="http://schemas.openxmlformats.org/drawingml/2006/main">
          <a:bodyPr/>
          <a:p/>
        </p:txBody>
      </p:sp>
      <p:sp>
        <p:nvSpPr>
          <p:cNvPr id="18" name="Text-344">
            <a:extLst xmlns:a="http://schemas.openxmlformats.org/drawingml/2006/main">
              <a:ext uri="{FF2B5EF4-FFF2-40B4-BE49-F238E27FC236}">
                <a16:creationId xmlns:a16="http://schemas.microsoft.com/office/drawing/2014/main" id="{897ABB6E-6323-40C7-B26F-5F587C8C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576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发射线</a:t>
            </a:r>
          </a:p>
        </p:txBody>
      </p:sp>
      <p:sp>
        <p:nvSpPr>
          <p:cNvPr id="19" name="Shape-345">
            <a:extLst xmlns:a="http://schemas.openxmlformats.org/drawingml/2006/main">
              <a:ext uri="{FF2B5EF4-FFF2-40B4-BE49-F238E27FC236}">
                <a16:creationId xmlns:a16="http://schemas.microsoft.com/office/drawing/2014/main" id="{B4AB525B-3D5C-4EAA-9729-1EC059B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1809750" cy="314325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20" name="Text-346">
            <a:extLst xmlns:a="http://schemas.openxmlformats.org/drawingml/2006/main">
              <a:ext uri="{FF2B5EF4-FFF2-40B4-BE49-F238E27FC236}">
                <a16:creationId xmlns:a16="http://schemas.microsoft.com/office/drawing/2014/main" id="{F4E5B525-1B5D-4429-A99F-066CA30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95825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吸收线</a:t>
            </a:r>
          </a:p>
        </p:txBody>
      </p:sp>
      <p:sp>
        <p:nvSpPr>
          <p:cNvPr id="21" name="Text-347">
            <a:extLst xmlns:a="http://schemas.openxmlformats.org/drawingml/2006/main">
              <a:ext uri="{FF2B5EF4-FFF2-40B4-BE49-F238E27FC236}">
                <a16:creationId xmlns:a16="http://schemas.microsoft.com/office/drawing/2014/main" id="{3D7D8794-778E-4765-8D8B-613661DD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自由原子核：两个区间不重叠 → 不能共振</a:t>
            </a:r>
          </a:p>
        </p:txBody>
      </p:sp>
      <p:sp>
        <p:nvSpPr>
          <p:cNvPr id="22" name="Shape-348">
            <a:extLst xmlns:a="http://schemas.openxmlformats.org/drawingml/2006/main">
              <a:ext uri="{FF2B5EF4-FFF2-40B4-BE49-F238E27FC236}">
                <a16:creationId xmlns:a16="http://schemas.microsoft.com/office/drawing/2014/main" id="{96376825-F868-4EA9-BCE9-8308E70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E8EF"/>
          </a:solidFill>
        </p:spPr>
        <p:txBody xmlns:a="http://schemas.openxmlformats.org/drawingml/2006/main">
          <a:bodyPr/>
          <a:p/>
        </p:txBody>
      </p:sp>
      <p:sp>
        <p:nvSpPr>
          <p:cNvPr id="23" name="Shape-349">
            <a:extLst xmlns:a="http://schemas.openxmlformats.org/drawingml/2006/main">
              <a:ext uri="{FF2B5EF4-FFF2-40B4-BE49-F238E27FC236}">
                <a16:creationId xmlns:a16="http://schemas.microsoft.com/office/drawing/2014/main" id="{475934B8-9E59-47EF-B56D-53DC599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24" name="Text-350">
            <a:extLst xmlns:a="http://schemas.openxmlformats.org/drawingml/2006/main">
              <a:ext uri="{FF2B5EF4-FFF2-40B4-BE49-F238E27FC236}">
                <a16:creationId xmlns:a16="http://schemas.microsoft.com/office/drawing/2014/main" id="{BC171A2D-AE61-45D1-ACAF-F257478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819775"/>
            <a:ext cx="37623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晶格 + 速度扫描：使区间重叠</a:t>
            </a:r>
          </a:p>
        </p:txBody>
      </p:sp>
      <p:sp>
        <p:nvSpPr>
          <p:cNvPr id="25" name="Text-351">
            <a:extLst xmlns:a="http://schemas.openxmlformats.org/drawingml/2006/main">
              <a:ext uri="{FF2B5EF4-FFF2-40B4-BE49-F238E27FC236}">
                <a16:creationId xmlns:a16="http://schemas.microsoft.com/office/drawing/2014/main" id="{5A52C166-6C18-4EAB-947B-CCCBF30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4238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V′ ≃ −(Δν/ν₀)c ≈ 3 cm/s</a:t>
            </a:r>
          </a:p>
        </p:txBody>
      </p:sp>
      <p:sp>
        <p:nvSpPr>
          <p:cNvPr id="26" name="Text-356">
            <a:extLst xmlns:a="http://schemas.openxmlformats.org/drawingml/2006/main">
              <a:ext uri="{FF2B5EF4-FFF2-40B4-BE49-F238E27FC236}">
                <a16:creationId xmlns:a16="http://schemas.microsoft.com/office/drawing/2014/main" id="{9ACB62F6-44E1-4F2C-8CEB-AE56178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09281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-413">
            <a:extLst xmlns:a="http://schemas.openxmlformats.org/drawingml/2006/main">
              <a:ext uri="{FF2B5EF4-FFF2-40B4-BE49-F238E27FC236}">
                <a16:creationId xmlns:a16="http://schemas.microsoft.com/office/drawing/2014/main" id="{19F09D85-ACEB-44E6-8162-561C16B7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414">
            <a:extLst xmlns:a="http://schemas.openxmlformats.org/drawingml/2006/main">
              <a:ext uri="{FF2B5EF4-FFF2-40B4-BE49-F238E27FC236}">
                <a16:creationId xmlns:a16="http://schemas.microsoft.com/office/drawing/2014/main" id="{37522BB9-9A50-41DE-8BBB-AEC5F6D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415">
            <a:extLst xmlns:a="http://schemas.openxmlformats.org/drawingml/2006/main">
              <a:ext uri="{FF2B5EF4-FFF2-40B4-BE49-F238E27FC236}">
                <a16:creationId xmlns:a16="http://schemas.microsoft.com/office/drawing/2014/main" id="{9717FEA7-30C0-487C-89E3-7055D03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教学设计示例：把竞赛题改写为45分钟思维任务链</a:t>
            </a:r>
          </a:p>
        </p:txBody>
      </p:sp>
      <p:sp>
        <p:nvSpPr>
          <p:cNvPr id="4" name="Text-416">
            <a:extLst xmlns:a="http://schemas.openxmlformats.org/drawingml/2006/main">
              <a:ext uri="{FF2B5EF4-FFF2-40B4-BE49-F238E27FC236}">
                <a16:creationId xmlns:a16="http://schemas.microsoft.com/office/drawing/2014/main" id="{0C8245EB-B009-47AB-ACFA-5B1FFF8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357">
            <a:extLst xmlns:a="http://schemas.openxmlformats.org/drawingml/2006/main">
              <a:ext uri="{FF2B5EF4-FFF2-40B4-BE49-F238E27FC236}">
                <a16:creationId xmlns:a16="http://schemas.microsoft.com/office/drawing/2014/main" id="{ED38F767-C0B2-4FBC-A336-D2C85735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9675"/>
            <a:ext cx="4953000" cy="314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以第35届第8题（3）（4）为例</a:t>
            </a:r>
          </a:p>
        </p:txBody>
      </p:sp>
      <p:sp>
        <p:nvSpPr>
          <p:cNvPr id="6" name="Shape-358">
            <a:extLst xmlns:a="http://schemas.openxmlformats.org/drawingml/2006/main">
              <a:ext uri="{FF2B5EF4-FFF2-40B4-BE49-F238E27FC236}">
                <a16:creationId xmlns:a16="http://schemas.microsoft.com/office/drawing/2014/main" id="{3B24B705-E02B-4CE0-980D-0606AA5E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Shape-359">
            <a:extLst xmlns:a="http://schemas.openxmlformats.org/drawingml/2006/main">
              <a:ext uri="{FF2B5EF4-FFF2-40B4-BE49-F238E27FC236}">
                <a16:creationId xmlns:a16="http://schemas.microsoft.com/office/drawing/2014/main" id="{8D3C46F3-CDCE-4DBA-9DEB-BA6D954F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8" name="Text-360">
            <a:extLst xmlns:a="http://schemas.openxmlformats.org/drawingml/2006/main">
              <a:ext uri="{FF2B5EF4-FFF2-40B4-BE49-F238E27FC236}">
                <a16:creationId xmlns:a16="http://schemas.microsoft.com/office/drawing/2014/main" id="{085DA64A-27A7-4E2F-88D9-DA57A50B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0—4</a:t>
            </a:r>
          </a:p>
        </p:txBody>
      </p:sp>
      <p:sp>
        <p:nvSpPr>
          <p:cNvPr id="9" name="Text-361">
            <a:extLst xmlns:a="http://schemas.openxmlformats.org/drawingml/2006/main">
              <a:ext uri="{FF2B5EF4-FFF2-40B4-BE49-F238E27FC236}">
                <a16:creationId xmlns:a16="http://schemas.microsoft.com/office/drawing/2014/main" id="{63CDEA52-A2F8-4F21-AFAE-42C541F1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呈现问题</a:t>
            </a:r>
          </a:p>
        </p:txBody>
      </p:sp>
      <p:cxnSp>
        <p:nvCxnSpPr>
          <p:cNvPr id="71" name="Rule-362"/>
          <p:cNvCxnSpPr/>
          <p:nvPr/>
        </p:nvCxnSpPr>
        <p:spPr>
          <a:xfrm xmlns:a="http://schemas.openxmlformats.org/drawingml/2006/main">
            <a:off x="77152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1" name="Text-363">
            <a:extLst xmlns:a="http://schemas.openxmlformats.org/drawingml/2006/main">
              <a:ext uri="{FF2B5EF4-FFF2-40B4-BE49-F238E27FC236}">
                <a16:creationId xmlns:a16="http://schemas.microsoft.com/office/drawing/2014/main" id="{DFA4C59F-45D2-4E13-973A-BE90C640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判断共振条件</a:t>
            </a:r>
          </a:p>
        </p:txBody>
      </p:sp>
      <p:sp>
        <p:nvSpPr>
          <p:cNvPr id="12" name="Shape-364">
            <a:extLst xmlns:a="http://schemas.openxmlformats.org/drawingml/2006/main">
              <a:ext uri="{FF2B5EF4-FFF2-40B4-BE49-F238E27FC236}">
                <a16:creationId xmlns:a16="http://schemas.microsoft.com/office/drawing/2014/main" id="{D2250FAF-C2BF-4E95-BCAE-0B34C82C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Shape-365">
            <a:extLst xmlns:a="http://schemas.openxmlformats.org/drawingml/2006/main">
              <a:ext uri="{FF2B5EF4-FFF2-40B4-BE49-F238E27FC236}">
                <a16:creationId xmlns:a16="http://schemas.microsoft.com/office/drawing/2014/main" id="{750A74B8-D06B-41EA-9895-4F9DDCEE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4" name="Text-366">
            <a:extLst xmlns:a="http://schemas.openxmlformats.org/drawingml/2006/main">
              <a:ext uri="{FF2B5EF4-FFF2-40B4-BE49-F238E27FC236}">
                <a16:creationId xmlns:a16="http://schemas.microsoft.com/office/drawing/2014/main" id="{B3F4A568-9D25-4AD5-9AD6-A883F1F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4—10</a:t>
            </a:r>
          </a:p>
        </p:txBody>
      </p:sp>
      <p:sp>
        <p:nvSpPr>
          <p:cNvPr id="15" name="Text-367">
            <a:extLst xmlns:a="http://schemas.openxmlformats.org/drawingml/2006/main">
              <a:ext uri="{FF2B5EF4-FFF2-40B4-BE49-F238E27FC236}">
                <a16:creationId xmlns:a16="http://schemas.microsoft.com/office/drawing/2014/main" id="{4623CF6D-88A5-470E-BDFD-1F5ECF8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独立作图</a:t>
            </a:r>
          </a:p>
        </p:txBody>
      </p:sp>
      <p:cxnSp>
        <p:nvCxnSpPr>
          <p:cNvPr id="77" name="Rule-368"/>
          <p:cNvCxnSpPr/>
          <p:nvPr/>
        </p:nvCxnSpPr>
        <p:spPr>
          <a:xfrm xmlns:a="http://schemas.openxmlformats.org/drawingml/2006/main">
            <a:off x="235267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7" name="Text-369">
            <a:extLst xmlns:a="http://schemas.openxmlformats.org/drawingml/2006/main">
              <a:ext uri="{FF2B5EF4-FFF2-40B4-BE49-F238E27FC236}">
                <a16:creationId xmlns:a16="http://schemas.microsoft.com/office/drawing/2014/main" id="{6F5F87D1-F8FC-499B-9BBD-97A0885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绘制能量区间</a:t>
            </a:r>
          </a:p>
        </p:txBody>
      </p:sp>
      <p:sp>
        <p:nvSpPr>
          <p:cNvPr id="18" name="Shape-370">
            <a:extLst xmlns:a="http://schemas.openxmlformats.org/drawingml/2006/main">
              <a:ext uri="{FF2B5EF4-FFF2-40B4-BE49-F238E27FC236}">
                <a16:creationId xmlns:a16="http://schemas.microsoft.com/office/drawing/2014/main" id="{5724AC24-6ADE-49ED-A15F-EBA52F1D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Shape-371">
            <a:extLst xmlns:a="http://schemas.openxmlformats.org/drawingml/2006/main">
              <a:ext uri="{FF2B5EF4-FFF2-40B4-BE49-F238E27FC236}">
                <a16:creationId xmlns:a16="http://schemas.microsoft.com/office/drawing/2014/main" id="{2CF80635-C525-418B-816C-B58CB2AB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20" name="Text-372">
            <a:extLst xmlns:a="http://schemas.openxmlformats.org/drawingml/2006/main">
              <a:ext uri="{FF2B5EF4-FFF2-40B4-BE49-F238E27FC236}">
                <a16:creationId xmlns:a16="http://schemas.microsoft.com/office/drawing/2014/main" id="{31E250F1-449C-41E8-8443-FDA7F50E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10—16</a:t>
            </a:r>
          </a:p>
        </p:txBody>
      </p:sp>
      <p:sp>
        <p:nvSpPr>
          <p:cNvPr id="21" name="Text-373">
            <a:extLst xmlns:a="http://schemas.openxmlformats.org/drawingml/2006/main">
              <a:ext uri="{FF2B5EF4-FFF2-40B4-BE49-F238E27FC236}">
                <a16:creationId xmlns:a16="http://schemas.microsoft.com/office/drawing/2014/main" id="{1C6A0AC5-383C-4EC5-8CFC-3233521F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建证据链</a:t>
            </a:r>
          </a:p>
        </p:txBody>
      </p:sp>
      <p:cxnSp>
        <p:nvCxnSpPr>
          <p:cNvPr id="83" name="Rule-374"/>
          <p:cNvCxnSpPr/>
          <p:nvPr/>
        </p:nvCxnSpPr>
        <p:spPr>
          <a:xfrm xmlns:a="http://schemas.openxmlformats.org/drawingml/2006/main">
            <a:off x="393382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23" name="Text-375">
            <a:extLst xmlns:a="http://schemas.openxmlformats.org/drawingml/2006/main">
              <a:ext uri="{FF2B5EF4-FFF2-40B4-BE49-F238E27FC236}">
                <a16:creationId xmlns:a16="http://schemas.microsoft.com/office/drawing/2014/main" id="{3524CAE5-152D-4E5B-AAF0-7B09CEA5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组织证据链</a:t>
            </a:r>
          </a:p>
        </p:txBody>
      </p:sp>
      <p:sp>
        <p:nvSpPr>
          <p:cNvPr id="24" name="Shape-376">
            <a:extLst xmlns:a="http://schemas.openxmlformats.org/drawingml/2006/main">
              <a:ext uri="{FF2B5EF4-FFF2-40B4-BE49-F238E27FC236}">
                <a16:creationId xmlns:a16="http://schemas.microsoft.com/office/drawing/2014/main" id="{0BCBD285-349F-4B2A-8819-E38BCC7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Shape-377">
            <a:extLst xmlns:a="http://schemas.openxmlformats.org/drawingml/2006/main">
              <a:ext uri="{FF2B5EF4-FFF2-40B4-BE49-F238E27FC236}">
                <a16:creationId xmlns:a16="http://schemas.microsoft.com/office/drawing/2014/main" id="{9487C175-2281-4255-8E96-4204350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26" name="Text-378">
            <a:extLst xmlns:a="http://schemas.openxmlformats.org/drawingml/2006/main">
              <a:ext uri="{FF2B5EF4-FFF2-40B4-BE49-F238E27FC236}">
                <a16:creationId xmlns:a16="http://schemas.microsoft.com/office/drawing/2014/main" id="{DAE7030C-2FC3-45FE-B117-B2B349D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16—23</a:t>
            </a:r>
          </a:p>
        </p:txBody>
      </p:sp>
      <p:sp>
        <p:nvSpPr>
          <p:cNvPr id="27" name="Text-379">
            <a:extLst xmlns:a="http://schemas.openxmlformats.org/drawingml/2006/main">
              <a:ext uri="{FF2B5EF4-FFF2-40B4-BE49-F238E27FC236}">
                <a16:creationId xmlns:a16="http://schemas.microsoft.com/office/drawing/2014/main" id="{F249AB4E-C07F-40EA-8B08-EC8EDB00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改变模型</a:t>
            </a:r>
          </a:p>
        </p:txBody>
      </p:sp>
      <p:cxnSp>
        <p:nvCxnSpPr>
          <p:cNvPr id="89" name="Rule-380"/>
          <p:cNvCxnSpPr/>
          <p:nvPr/>
        </p:nvCxnSpPr>
        <p:spPr>
          <a:xfrm xmlns:a="http://schemas.openxmlformats.org/drawingml/2006/main">
            <a:off x="551497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29" name="Text-381">
            <a:extLst xmlns:a="http://schemas.openxmlformats.org/drawingml/2006/main">
              <a:ext uri="{FF2B5EF4-FFF2-40B4-BE49-F238E27FC236}">
                <a16:creationId xmlns:a16="http://schemas.microsoft.com/office/drawing/2014/main" id="{24C0E920-8E57-4920-9245-2D7995AB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自由核改晶格核</a:t>
            </a:r>
          </a:p>
        </p:txBody>
      </p:sp>
      <p:sp>
        <p:nvSpPr>
          <p:cNvPr id="30" name="Shape-382">
            <a:extLst xmlns:a="http://schemas.openxmlformats.org/drawingml/2006/main">
              <a:ext uri="{FF2B5EF4-FFF2-40B4-BE49-F238E27FC236}">
                <a16:creationId xmlns:a16="http://schemas.microsoft.com/office/drawing/2014/main" id="{8445AC21-9BA3-483A-89B3-741FC390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1" name="Shape-383">
            <a:extLst xmlns:a="http://schemas.openxmlformats.org/drawingml/2006/main">
              <a:ext uri="{FF2B5EF4-FFF2-40B4-BE49-F238E27FC236}">
                <a16:creationId xmlns:a16="http://schemas.microsoft.com/office/drawing/2014/main" id="{5578B675-E404-4DF9-BF51-7ABCC6A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2" name="Text-384">
            <a:extLst xmlns:a="http://schemas.openxmlformats.org/drawingml/2006/main">
              <a:ext uri="{FF2B5EF4-FFF2-40B4-BE49-F238E27FC236}">
                <a16:creationId xmlns:a16="http://schemas.microsoft.com/office/drawing/2014/main" id="{2CD21AB0-343C-4AB6-84AB-D1C74771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23—32</a:t>
            </a:r>
          </a:p>
        </p:txBody>
      </p:sp>
      <p:sp>
        <p:nvSpPr>
          <p:cNvPr id="33" name="Text-385">
            <a:extLst xmlns:a="http://schemas.openxmlformats.org/drawingml/2006/main">
              <a:ext uri="{FF2B5EF4-FFF2-40B4-BE49-F238E27FC236}">
                <a16:creationId xmlns:a16="http://schemas.microsoft.com/office/drawing/2014/main" id="{CCF605E7-62EA-4C2A-9FD0-54E36960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设计测量</a:t>
            </a:r>
          </a:p>
        </p:txBody>
      </p:sp>
      <p:cxnSp>
        <p:nvCxnSpPr>
          <p:cNvPr id="95" name="Rule-386"/>
          <p:cNvCxnSpPr/>
          <p:nvPr/>
        </p:nvCxnSpPr>
        <p:spPr>
          <a:xfrm xmlns:a="http://schemas.openxmlformats.org/drawingml/2006/main">
            <a:off x="709612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35" name="Text-387">
            <a:extLst xmlns:a="http://schemas.openxmlformats.org/drawingml/2006/main">
              <a:ext uri="{FF2B5EF4-FFF2-40B4-BE49-F238E27FC236}">
                <a16:creationId xmlns:a16="http://schemas.microsoft.com/office/drawing/2014/main" id="{1923DABF-EE10-4937-B2AD-22832B6F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设计速度扫描</a:t>
            </a:r>
          </a:p>
        </p:txBody>
      </p:sp>
      <p:sp>
        <p:nvSpPr>
          <p:cNvPr id="36" name="Shape-388">
            <a:extLst xmlns:a="http://schemas.openxmlformats.org/drawingml/2006/main">
              <a:ext uri="{FF2B5EF4-FFF2-40B4-BE49-F238E27FC236}">
                <a16:creationId xmlns:a16="http://schemas.microsoft.com/office/drawing/2014/main" id="{6014C2A3-136C-450F-8575-BA74146C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7" name="Shape-389">
            <a:extLst xmlns:a="http://schemas.openxmlformats.org/drawingml/2006/main">
              <a:ext uri="{FF2B5EF4-FFF2-40B4-BE49-F238E27FC236}">
                <a16:creationId xmlns:a16="http://schemas.microsoft.com/office/drawing/2014/main" id="{06CBA549-3AF7-47A6-97C6-A7C3061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8" name="Text-390">
            <a:extLst xmlns:a="http://schemas.openxmlformats.org/drawingml/2006/main">
              <a:ext uri="{FF2B5EF4-FFF2-40B4-BE49-F238E27FC236}">
                <a16:creationId xmlns:a16="http://schemas.microsoft.com/office/drawing/2014/main" id="{8C3E9397-F0A4-4ED7-9F2F-8FD458A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32—38</a:t>
            </a:r>
          </a:p>
        </p:txBody>
      </p:sp>
      <p:sp>
        <p:nvSpPr>
          <p:cNvPr id="39" name="Text-391">
            <a:extLst xmlns:a="http://schemas.openxmlformats.org/drawingml/2006/main">
              <a:ext uri="{FF2B5EF4-FFF2-40B4-BE49-F238E27FC236}">
                <a16:creationId xmlns:a16="http://schemas.microsoft.com/office/drawing/2014/main" id="{AEBEAA33-C25E-4D00-8AA8-4A444A2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比较方案</a:t>
            </a:r>
          </a:p>
        </p:txBody>
      </p:sp>
      <p:cxnSp>
        <p:nvCxnSpPr>
          <p:cNvPr id="101" name="Rule-392"/>
          <p:cNvCxnSpPr/>
          <p:nvPr/>
        </p:nvCxnSpPr>
        <p:spPr>
          <a:xfrm xmlns:a="http://schemas.openxmlformats.org/drawingml/2006/main">
            <a:off x="867727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41" name="Text-393">
            <a:extLst xmlns:a="http://schemas.openxmlformats.org/drawingml/2006/main">
              <a:ext uri="{FF2B5EF4-FFF2-40B4-BE49-F238E27FC236}">
                <a16:creationId xmlns:a16="http://schemas.microsoft.com/office/drawing/2014/main" id="{47A9580C-9A50-4C8A-BC34-6D404AC5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比较精度与操作</a:t>
            </a:r>
          </a:p>
        </p:txBody>
      </p:sp>
      <p:sp>
        <p:nvSpPr>
          <p:cNvPr id="42" name="Shape-394">
            <a:extLst xmlns:a="http://schemas.openxmlformats.org/drawingml/2006/main">
              <a:ext uri="{FF2B5EF4-FFF2-40B4-BE49-F238E27FC236}">
                <a16:creationId xmlns:a16="http://schemas.microsoft.com/office/drawing/2014/main" id="{0BFB9AA6-D9ED-4F6A-8985-BDE5FA8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09750"/>
            <a:ext cx="1409700" cy="2381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3" name="Shape-395">
            <a:extLst xmlns:a="http://schemas.openxmlformats.org/drawingml/2006/main">
              <a:ext uri="{FF2B5EF4-FFF2-40B4-BE49-F238E27FC236}">
                <a16:creationId xmlns:a16="http://schemas.microsoft.com/office/drawing/2014/main" id="{F4D4CFBD-E3E5-4ACD-96E0-AE0F457C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09750"/>
            <a:ext cx="140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44" name="Text-396">
            <a:extLst xmlns:a="http://schemas.openxmlformats.org/drawingml/2006/main">
              <a:ext uri="{FF2B5EF4-FFF2-40B4-BE49-F238E27FC236}">
                <a16:creationId xmlns:a16="http://schemas.microsoft.com/office/drawing/2014/main" id="{903E00E5-E306-4245-B461-39C96F44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2192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38—45</a:t>
            </a:r>
          </a:p>
        </p:txBody>
      </p:sp>
      <p:sp>
        <p:nvSpPr>
          <p:cNvPr id="45" name="Text-397">
            <a:extLst xmlns:a="http://schemas.openxmlformats.org/drawingml/2006/main">
              <a:ext uri="{FF2B5EF4-FFF2-40B4-BE49-F238E27FC236}">
                <a16:creationId xmlns:a16="http://schemas.microsoft.com/office/drawing/2014/main" id="{3FA7D455-3215-4526-93A6-D26C112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28900"/>
            <a:ext cx="1219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修订反馈</a:t>
            </a:r>
          </a:p>
        </p:txBody>
      </p:sp>
      <p:cxnSp>
        <p:nvCxnSpPr>
          <p:cNvPr id="107" name="Rule-398"/>
          <p:cNvCxnSpPr/>
          <p:nvPr/>
        </p:nvCxnSpPr>
        <p:spPr>
          <a:xfrm xmlns:a="http://schemas.openxmlformats.org/drawingml/2006/main">
            <a:off x="10258425" y="3133725"/>
            <a:ext cx="97155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47" name="Text-399">
            <a:extLst xmlns:a="http://schemas.openxmlformats.org/drawingml/2006/main">
              <a:ext uri="{FF2B5EF4-FFF2-40B4-BE49-F238E27FC236}">
                <a16:creationId xmlns:a16="http://schemas.microsoft.com/office/drawing/2014/main" id="{3CBB4155-9769-4DC4-B27F-DF77887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52800"/>
            <a:ext cx="1162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修订并总结</a:t>
            </a:r>
          </a:p>
        </p:txBody>
      </p:sp>
      <p:sp>
        <p:nvSpPr>
          <p:cNvPr id="48" name="Text-400">
            <a:extLst xmlns:a="http://schemas.openxmlformats.org/drawingml/2006/main">
              <a:ext uri="{FF2B5EF4-FFF2-40B4-BE49-F238E27FC236}">
                <a16:creationId xmlns:a16="http://schemas.microsoft.com/office/drawing/2014/main" id="{DCDE7692-E3BE-456B-81EC-6735930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680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课堂必须留下四类可观察产出</a:t>
            </a:r>
          </a:p>
        </p:txBody>
      </p:sp>
      <p:sp>
        <p:nvSpPr>
          <p:cNvPr id="49" name="Shape-401">
            <a:extLst xmlns:a="http://schemas.openxmlformats.org/drawingml/2006/main">
              <a:ext uri="{FF2B5EF4-FFF2-40B4-BE49-F238E27FC236}">
                <a16:creationId xmlns:a16="http://schemas.microsoft.com/office/drawing/2014/main" id="{8358D3B2-8B64-42F4-801C-1DA3AE0D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2552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50" name="Shape-402">
            <a:extLst xmlns:a="http://schemas.openxmlformats.org/drawingml/2006/main">
              <a:ext uri="{FF2B5EF4-FFF2-40B4-BE49-F238E27FC236}">
                <a16:creationId xmlns:a16="http://schemas.microsoft.com/office/drawing/2014/main" id="{B1BB1465-6C86-4EFA-92F2-E17FE5F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51" name="Text-403">
            <a:extLst xmlns:a="http://schemas.openxmlformats.org/drawingml/2006/main">
              <a:ext uri="{FF2B5EF4-FFF2-40B4-BE49-F238E27FC236}">
                <a16:creationId xmlns:a16="http://schemas.microsoft.com/office/drawing/2014/main" id="{CBB74F3A-9CC3-4248-B896-8F7455AF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91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区间图</a:t>
            </a:r>
          </a:p>
        </p:txBody>
      </p:sp>
      <p:sp>
        <p:nvSpPr>
          <p:cNvPr id="52" name="Shape-404">
            <a:extLst xmlns:a="http://schemas.openxmlformats.org/drawingml/2006/main">
              <a:ext uri="{FF2B5EF4-FFF2-40B4-BE49-F238E27FC236}">
                <a16:creationId xmlns:a16="http://schemas.microsoft.com/office/drawing/2014/main" id="{63AD92BC-C019-45FD-9E2F-2519D8F3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91125"/>
            <a:ext cx="2552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53" name="Shape-405">
            <a:extLst xmlns:a="http://schemas.openxmlformats.org/drawingml/2006/main">
              <a:ext uri="{FF2B5EF4-FFF2-40B4-BE49-F238E27FC236}">
                <a16:creationId xmlns:a16="http://schemas.microsoft.com/office/drawing/2014/main" id="{EC227AAE-6EF6-4AC1-B488-CADE154F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91125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54" name="Text-406">
            <a:extLst xmlns:a="http://schemas.openxmlformats.org/drawingml/2006/main">
              <a:ext uri="{FF2B5EF4-FFF2-40B4-BE49-F238E27FC236}">
                <a16:creationId xmlns:a16="http://schemas.microsoft.com/office/drawing/2014/main" id="{81032DAD-3BA7-478D-9517-D47E7A07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391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证据链</a:t>
            </a:r>
          </a:p>
        </p:txBody>
      </p:sp>
      <p:sp>
        <p:nvSpPr>
          <p:cNvPr id="55" name="Shape-407">
            <a:extLst xmlns:a="http://schemas.openxmlformats.org/drawingml/2006/main">
              <a:ext uri="{FF2B5EF4-FFF2-40B4-BE49-F238E27FC236}">
                <a16:creationId xmlns:a16="http://schemas.microsoft.com/office/drawing/2014/main" id="{AEDB8A73-3D34-47B6-884C-56D363AC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2552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56" name="Shape-408">
            <a:extLst xmlns:a="http://schemas.openxmlformats.org/drawingml/2006/main">
              <a:ext uri="{FF2B5EF4-FFF2-40B4-BE49-F238E27FC236}">
                <a16:creationId xmlns:a16="http://schemas.microsoft.com/office/drawing/2014/main" id="{2A7B5994-AE1D-4F97-9AF4-94BACA74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57" name="Text-409">
            <a:extLst xmlns:a="http://schemas.openxmlformats.org/drawingml/2006/main">
              <a:ext uri="{FF2B5EF4-FFF2-40B4-BE49-F238E27FC236}">
                <a16:creationId xmlns:a16="http://schemas.microsoft.com/office/drawing/2014/main" id="{342E702A-1C59-4901-8F25-15F0DBC6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391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模型比较</a:t>
            </a:r>
          </a:p>
        </p:txBody>
      </p:sp>
      <p:sp>
        <p:nvSpPr>
          <p:cNvPr id="58" name="Shape-410">
            <a:extLst xmlns:a="http://schemas.openxmlformats.org/drawingml/2006/main">
              <a:ext uri="{FF2B5EF4-FFF2-40B4-BE49-F238E27FC236}">
                <a16:creationId xmlns:a16="http://schemas.microsoft.com/office/drawing/2014/main" id="{1B0B4739-5024-4A9B-BA14-8C5B9700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91125"/>
            <a:ext cx="2552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59" name="Shape-411">
            <a:extLst xmlns:a="http://schemas.openxmlformats.org/drawingml/2006/main">
              <a:ext uri="{FF2B5EF4-FFF2-40B4-BE49-F238E27FC236}">
                <a16:creationId xmlns:a16="http://schemas.microsoft.com/office/drawing/2014/main" id="{C37E7A35-F0FA-40B7-9A01-896AF4ED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91125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60" name="Text-412">
            <a:extLst xmlns:a="http://schemas.openxmlformats.org/drawingml/2006/main">
              <a:ext uri="{FF2B5EF4-FFF2-40B4-BE49-F238E27FC236}">
                <a16:creationId xmlns:a16="http://schemas.microsoft.com/office/drawing/2014/main" id="{8551AC6E-5E94-4D6A-8891-D9C791DB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391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F6B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测量方案</a:t>
            </a:r>
          </a:p>
        </p:txBody>
      </p:sp>
      <p:sp>
        <p:nvSpPr>
          <p:cNvPr id="61" name="Text-417">
            <a:extLst xmlns:a="http://schemas.openxmlformats.org/drawingml/2006/main">
              <a:ext uri="{FF2B5EF4-FFF2-40B4-BE49-F238E27FC236}">
                <a16:creationId xmlns:a16="http://schemas.microsoft.com/office/drawing/2014/main" id="{9F30E26A-B7CD-4ED0-8028-587001B5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8261340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-440">
            <a:extLst xmlns:a="http://schemas.openxmlformats.org/drawingml/2006/main">
              <a:ext uri="{FF2B5EF4-FFF2-40B4-BE49-F238E27FC236}">
                <a16:creationId xmlns:a16="http://schemas.microsoft.com/office/drawing/2014/main" id="{BBFF0DA3-AD2A-46D6-944E-351896EF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441">
            <a:extLst xmlns:a="http://schemas.openxmlformats.org/drawingml/2006/main">
              <a:ext uri="{FF2B5EF4-FFF2-40B4-BE49-F238E27FC236}">
                <a16:creationId xmlns:a16="http://schemas.microsoft.com/office/drawing/2014/main" id="{AB2ACF1F-4B1F-43F5-BCF7-31833C4F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442">
            <a:extLst xmlns:a="http://schemas.openxmlformats.org/drawingml/2006/main">
              <a:ext uri="{FF2B5EF4-FFF2-40B4-BE49-F238E27FC236}">
                <a16:creationId xmlns:a16="http://schemas.microsoft.com/office/drawing/2014/main" id="{D1C226C4-C943-4E48-805D-373CD9D5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评价设计：用四个维度检查学生产出</a:t>
            </a:r>
          </a:p>
        </p:txBody>
      </p:sp>
      <p:sp>
        <p:nvSpPr>
          <p:cNvPr id="4" name="Text-443">
            <a:extLst xmlns:a="http://schemas.openxmlformats.org/drawingml/2006/main">
              <a:ext uri="{FF2B5EF4-FFF2-40B4-BE49-F238E27FC236}">
                <a16:creationId xmlns:a16="http://schemas.microsoft.com/office/drawing/2014/main" id="{6BC55CD3-D144-4976-BB54-FB13735A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Shape-418">
            <a:extLst xmlns:a="http://schemas.openxmlformats.org/drawingml/2006/main">
              <a:ext uri="{FF2B5EF4-FFF2-40B4-BE49-F238E27FC236}">
                <a16:creationId xmlns:a16="http://schemas.microsoft.com/office/drawing/2014/main" id="{B3954504-7887-416C-87FA-8EFAED39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4292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Shape-419">
            <a:extLst xmlns:a="http://schemas.openxmlformats.org/drawingml/2006/main">
              <a:ext uri="{FF2B5EF4-FFF2-40B4-BE49-F238E27FC236}">
                <a16:creationId xmlns:a16="http://schemas.microsoft.com/office/drawing/2014/main" id="{43452B55-82E0-4096-8BEC-073163AC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52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7" name="Text-420">
            <a:extLst xmlns:a="http://schemas.openxmlformats.org/drawingml/2006/main">
              <a:ext uri="{FF2B5EF4-FFF2-40B4-BE49-F238E27FC236}">
                <a16:creationId xmlns:a16="http://schemas.microsoft.com/office/drawing/2014/main" id="{BE7FC146-5B55-44C3-9D2A-2A6403F9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物理正确性</a:t>
            </a:r>
          </a:p>
        </p:txBody>
      </p:sp>
      <p:sp>
        <p:nvSpPr>
          <p:cNvPr id="8" name="Text-421">
            <a:extLst xmlns:a="http://schemas.openxmlformats.org/drawingml/2006/main">
              <a:ext uri="{FF2B5EF4-FFF2-40B4-BE49-F238E27FC236}">
                <a16:creationId xmlns:a16="http://schemas.microsoft.com/office/drawing/2014/main" id="{EC2DF674-B07E-4831-8842-2DF39313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71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0—3分</a:t>
            </a:r>
          </a:p>
        </p:txBody>
      </p:sp>
      <p:sp>
        <p:nvSpPr>
          <p:cNvPr id="9" name="Text-422">
            <a:extLst xmlns:a="http://schemas.openxmlformats.org/drawingml/2006/main">
              <a:ext uri="{FF2B5EF4-FFF2-40B4-BE49-F238E27FC236}">
                <a16:creationId xmlns:a16="http://schemas.microsoft.com/office/drawing/2014/main" id="{B5D3E3BD-D95E-4897-8969-0451CE78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47625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模型、定律、计算与量纲无实质错误</a:t>
            </a:r>
          </a:p>
        </p:txBody>
      </p:sp>
      <p:sp>
        <p:nvSpPr>
          <p:cNvPr id="10" name="Shape-423">
            <a:extLst xmlns:a="http://schemas.openxmlformats.org/drawingml/2006/main">
              <a:ext uri="{FF2B5EF4-FFF2-40B4-BE49-F238E27FC236}">
                <a16:creationId xmlns:a16="http://schemas.microsoft.com/office/drawing/2014/main" id="{934370A0-DB4C-4EE4-A90D-218D3D53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4292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Shape-424">
            <a:extLst xmlns:a="http://schemas.openxmlformats.org/drawingml/2006/main">
              <a:ext uri="{FF2B5EF4-FFF2-40B4-BE49-F238E27FC236}">
                <a16:creationId xmlns:a16="http://schemas.microsoft.com/office/drawing/2014/main" id="{C4B89DEA-9DCB-402B-BD90-5E100D59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952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12" name="Text-425">
            <a:extLst xmlns:a="http://schemas.openxmlformats.org/drawingml/2006/main">
              <a:ext uri="{FF2B5EF4-FFF2-40B4-BE49-F238E27FC236}">
                <a16:creationId xmlns:a16="http://schemas.microsoft.com/office/drawing/2014/main" id="{2377702A-40F9-4F5B-952A-B6A37ED8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6A8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关系完整性</a:t>
            </a:r>
          </a:p>
        </p:txBody>
      </p:sp>
      <p:sp>
        <p:nvSpPr>
          <p:cNvPr id="13" name="Text-426">
            <a:extLst xmlns:a="http://schemas.openxmlformats.org/drawingml/2006/main">
              <a:ext uri="{FF2B5EF4-FFF2-40B4-BE49-F238E27FC236}">
                <a16:creationId xmlns:a16="http://schemas.microsoft.com/office/drawing/2014/main" id="{B755EC88-B7C0-4B97-932B-1E0B686F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716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0—3分</a:t>
            </a:r>
          </a:p>
        </p:txBody>
      </p:sp>
      <p:sp>
        <p:nvSpPr>
          <p:cNvPr id="14" name="Text-427">
            <a:extLst xmlns:a="http://schemas.openxmlformats.org/drawingml/2006/main">
              <a:ext uri="{FF2B5EF4-FFF2-40B4-BE49-F238E27FC236}">
                <a16:creationId xmlns:a16="http://schemas.microsoft.com/office/drawing/2014/main" id="{02AC18C7-E808-43FB-A634-99EB3FE9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7625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关键条件、变量和关系链没有断点</a:t>
            </a:r>
          </a:p>
        </p:txBody>
      </p:sp>
      <p:sp>
        <p:nvSpPr>
          <p:cNvPr id="15" name="Shape-428">
            <a:extLst xmlns:a="http://schemas.openxmlformats.org/drawingml/2006/main">
              <a:ext uri="{FF2B5EF4-FFF2-40B4-BE49-F238E27FC236}">
                <a16:creationId xmlns:a16="http://schemas.microsoft.com/office/drawing/2014/main" id="{28C5C5C2-4C82-4AC9-9FBA-C4C87554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54292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Shape-429">
            <a:extLst xmlns:a="http://schemas.openxmlformats.org/drawingml/2006/main">
              <a:ext uri="{FF2B5EF4-FFF2-40B4-BE49-F238E27FC236}">
                <a16:creationId xmlns:a16="http://schemas.microsoft.com/office/drawing/2014/main" id="{CD352D64-B75E-4D4C-8B4D-5DCD22BE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952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17" name="Text-430">
            <a:extLst xmlns:a="http://schemas.openxmlformats.org/drawingml/2006/main">
              <a:ext uri="{FF2B5EF4-FFF2-40B4-BE49-F238E27FC236}">
                <a16:creationId xmlns:a16="http://schemas.microsoft.com/office/drawing/2014/main" id="{0C8B18C5-ED4C-486B-9EC6-98DA3610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47A2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理由充分性</a:t>
            </a:r>
          </a:p>
        </p:txBody>
      </p:sp>
      <p:sp>
        <p:nvSpPr>
          <p:cNvPr id="18" name="Text-431">
            <a:extLst xmlns:a="http://schemas.openxmlformats.org/drawingml/2006/main">
              <a:ext uri="{FF2B5EF4-FFF2-40B4-BE49-F238E27FC236}">
                <a16:creationId xmlns:a16="http://schemas.microsoft.com/office/drawing/2014/main" id="{F3728F5A-DBE9-45FF-939B-4F29CC0F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433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0—3分</a:t>
            </a:r>
          </a:p>
        </p:txBody>
      </p:sp>
      <p:sp>
        <p:nvSpPr>
          <p:cNvPr id="19" name="Text-432">
            <a:extLst xmlns:a="http://schemas.openxmlformats.org/drawingml/2006/main">
              <a:ext uri="{FF2B5EF4-FFF2-40B4-BE49-F238E27FC236}">
                <a16:creationId xmlns:a16="http://schemas.microsoft.com/office/drawing/2014/main" id="{BE8C526F-5480-4459-8A8F-B831FD46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47625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结论有证据，证据与理由形成对应</a:t>
            </a:r>
          </a:p>
        </p:txBody>
      </p:sp>
      <p:sp>
        <p:nvSpPr>
          <p:cNvPr id="20" name="Shape-433">
            <a:extLst xmlns:a="http://schemas.openxmlformats.org/drawingml/2006/main">
              <a:ext uri="{FF2B5EF4-FFF2-40B4-BE49-F238E27FC236}">
                <a16:creationId xmlns:a16="http://schemas.microsoft.com/office/drawing/2014/main" id="{D2590804-E745-4E6D-B290-9E4A2AC6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4292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hape-434">
            <a:extLst xmlns:a="http://schemas.openxmlformats.org/drawingml/2006/main">
              <a:ext uri="{FF2B5EF4-FFF2-40B4-BE49-F238E27FC236}">
                <a16:creationId xmlns:a16="http://schemas.microsoft.com/office/drawing/2014/main" id="{07F04057-0C14-4B23-84A5-30F625E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95250" cy="1828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22" name="Text-435">
            <a:extLst xmlns:a="http://schemas.openxmlformats.org/drawingml/2006/main">
              <a:ext uri="{FF2B5EF4-FFF2-40B4-BE49-F238E27FC236}">
                <a16:creationId xmlns:a16="http://schemas.microsoft.com/office/drawing/2014/main" id="{EEAA440B-FABA-45DC-BCDD-7617C24F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F6B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边界意识</a:t>
            </a:r>
          </a:p>
        </p:txBody>
      </p:sp>
      <p:sp>
        <p:nvSpPr>
          <p:cNvPr id="23" name="Text-436">
            <a:extLst xmlns:a="http://schemas.openxmlformats.org/drawingml/2006/main">
              <a:ext uri="{FF2B5EF4-FFF2-40B4-BE49-F238E27FC236}">
                <a16:creationId xmlns:a16="http://schemas.microsoft.com/office/drawing/2014/main" id="{F13CD6ED-0C9D-4A35-8219-369BE45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43325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0—3分</a:t>
            </a:r>
          </a:p>
        </p:txBody>
      </p:sp>
      <p:sp>
        <p:nvSpPr>
          <p:cNvPr id="24" name="Text-437">
            <a:extLst xmlns:a="http://schemas.openxmlformats.org/drawingml/2006/main">
              <a:ext uri="{FF2B5EF4-FFF2-40B4-BE49-F238E27FC236}">
                <a16:creationId xmlns:a16="http://schemas.microsoft.com/office/drawing/2014/main" id="{E0952514-F276-4119-9AB2-ACF11F7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14825"/>
            <a:ext cx="476250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能说明近似、适用条件及方案局限</a:t>
            </a:r>
          </a:p>
        </p:txBody>
      </p:sp>
      <p:sp>
        <p:nvSpPr>
          <p:cNvPr id="25" name="Shape-438">
            <a:extLst xmlns:a="http://schemas.openxmlformats.org/drawingml/2006/main">
              <a:ext uri="{FF2B5EF4-FFF2-40B4-BE49-F238E27FC236}">
                <a16:creationId xmlns:a16="http://schemas.microsoft.com/office/drawing/2014/main" id="{2FF7F5E8-9DF8-4129-9515-53331BDC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0680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26" name="Text-439">
            <a:extLst xmlns:a="http://schemas.openxmlformats.org/drawingml/2006/main">
              <a:ext uri="{FF2B5EF4-FFF2-40B4-BE49-F238E27FC236}">
                <a16:creationId xmlns:a16="http://schemas.microsoft.com/office/drawing/2014/main" id="{A97936C0-5F69-4159-B0B5-239E7B85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81675"/>
            <a:ext cx="10648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总分12分：用于一次课堂任务的形成性反馈，不把单次表现解释为学生的稳定能力。</a:t>
            </a:r>
          </a:p>
        </p:txBody>
      </p:sp>
      <p:sp>
        <p:nvSpPr>
          <p:cNvPr id="27" name="Text-444">
            <a:extLst xmlns:a="http://schemas.openxmlformats.org/drawingml/2006/main">
              <a:ext uri="{FF2B5EF4-FFF2-40B4-BE49-F238E27FC236}">
                <a16:creationId xmlns:a16="http://schemas.microsoft.com/office/drawing/2014/main" id="{D965F54D-A611-4D82-9E72-7FD81D4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6039607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hape-477">
            <a:extLst xmlns:a="http://schemas.openxmlformats.org/drawingml/2006/main">
              <a:ext uri="{FF2B5EF4-FFF2-40B4-BE49-F238E27FC236}">
                <a16:creationId xmlns:a16="http://schemas.microsoft.com/office/drawing/2014/main" id="{E238AEBD-D7E8-4260-9B00-E7A9F62F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478">
            <a:extLst xmlns:a="http://schemas.openxmlformats.org/drawingml/2006/main">
              <a:ext uri="{FF2B5EF4-FFF2-40B4-BE49-F238E27FC236}">
                <a16:creationId xmlns:a16="http://schemas.microsoft.com/office/drawing/2014/main" id="{62B86FCA-5E0E-4950-AA98-9C2416E7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"/>
            <a:ext cx="57150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479">
            <a:extLst xmlns:a="http://schemas.openxmlformats.org/drawingml/2006/main">
              <a:ext uri="{FF2B5EF4-FFF2-40B4-BE49-F238E27FC236}">
                <a16:creationId xmlns:a16="http://schemas.microsoft.com/office/drawing/2014/main" id="{F5C0E376-AF82-44F8-80F0-78AC333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9239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结论与贡献</a:t>
            </a:r>
          </a:p>
        </p:txBody>
      </p:sp>
      <p:sp>
        <p:nvSpPr>
          <p:cNvPr id="4" name="Text-480">
            <a:extLst xmlns:a="http://schemas.openxmlformats.org/drawingml/2006/main">
              <a:ext uri="{FF2B5EF4-FFF2-40B4-BE49-F238E27FC236}">
                <a16:creationId xmlns:a16="http://schemas.microsoft.com/office/drawing/2014/main" id="{EAC1230E-03B1-4DC9-A937-1B4A3C5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ECNU · 教师教育学院</a:t>
            </a:r>
          </a:p>
        </p:txBody>
      </p:sp>
      <p:sp>
        <p:nvSpPr>
          <p:cNvPr id="5" name="Text-445">
            <a:extLst xmlns:a="http://schemas.openxmlformats.org/drawingml/2006/main">
              <a:ext uri="{FF2B5EF4-FFF2-40B4-BE49-F238E27FC236}">
                <a16:creationId xmlns:a16="http://schemas.microsoft.com/office/drawing/2014/main" id="{CC1D20AB-F896-4D26-B112-518966F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573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核心结论</a:t>
            </a:r>
          </a:p>
        </p:txBody>
      </p:sp>
      <p:sp>
        <p:nvSpPr>
          <p:cNvPr id="6" name="Text-446">
            <a:extLst xmlns:a="http://schemas.openxmlformats.org/drawingml/2006/main">
              <a:ext uri="{FF2B5EF4-FFF2-40B4-BE49-F238E27FC236}">
                <a16:creationId xmlns:a16="http://schemas.microsoft.com/office/drawing/2014/main" id="{E88AAA45-CE39-44F1-A322-737B94AD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52600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</a:t>
            </a:r>
          </a:p>
        </p:txBody>
      </p:sp>
      <p:sp>
        <p:nvSpPr>
          <p:cNvPr id="7" name="Text-447">
            <a:extLst xmlns:a="http://schemas.openxmlformats.org/drawingml/2006/main">
              <a:ext uri="{FF2B5EF4-FFF2-40B4-BE49-F238E27FC236}">
                <a16:creationId xmlns:a16="http://schemas.microsoft.com/office/drawing/2014/main" id="{DB8C8489-DE1D-4397-AB1B-A9CF0DFE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762125"/>
            <a:ext cx="4391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97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复赛题的稳定核心是“模型建构—科学推理”耦合。</a:t>
            </a:r>
          </a:p>
        </p:txBody>
      </p:sp>
      <p:sp>
        <p:nvSpPr>
          <p:cNvPr id="8" name="Text-448">
            <a:extLst xmlns:a="http://schemas.openxmlformats.org/drawingml/2006/main">
              <a:ext uri="{FF2B5EF4-FFF2-40B4-BE49-F238E27FC236}">
                <a16:creationId xmlns:a16="http://schemas.microsoft.com/office/drawing/2014/main" id="{927DE2A9-D36A-4901-8F23-852CE2E3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52650"/>
            <a:ext cx="4391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推理覆盖全部单元，模型建构接近九成，两者共同构成主体结构。</a:t>
            </a:r>
          </a:p>
        </p:txBody>
      </p:sp>
      <p:cxnSp>
        <p:nvCxnSpPr>
          <p:cNvPr id="46" name="Rule-449"/>
          <p:cNvCxnSpPr/>
          <p:nvPr/>
        </p:nvCxnSpPr>
        <p:spPr>
          <a:xfrm xmlns:a="http://schemas.openxmlformats.org/drawingml/2006/main">
            <a:off x="1343025" y="2733675"/>
            <a:ext cx="4391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0" name="Text-450">
            <a:extLst xmlns:a="http://schemas.openxmlformats.org/drawingml/2006/main">
              <a:ext uri="{FF2B5EF4-FFF2-40B4-BE49-F238E27FC236}">
                <a16:creationId xmlns:a16="http://schemas.microsoft.com/office/drawing/2014/main" id="{322F00F2-B2BC-4998-861F-44EB94C9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5150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</a:t>
            </a:r>
          </a:p>
        </p:txBody>
      </p:sp>
      <p:sp>
        <p:nvSpPr>
          <p:cNvPr id="11" name="Text-451">
            <a:extLst xmlns:a="http://schemas.openxmlformats.org/drawingml/2006/main">
              <a:ext uri="{FF2B5EF4-FFF2-40B4-BE49-F238E27FC236}">
                <a16:creationId xmlns:a16="http://schemas.microsoft.com/office/drawing/2014/main" id="{C44F5E81-3F1D-4C04-B41D-1AF564ED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114675"/>
            <a:ext cx="4391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论证与创新不会随计算难度自动出现。</a:t>
            </a:r>
          </a:p>
        </p:txBody>
      </p:sp>
      <p:sp>
        <p:nvSpPr>
          <p:cNvPr id="12" name="Text-452">
            <a:extLst xmlns:a="http://schemas.openxmlformats.org/drawingml/2006/main">
              <a:ext uri="{FF2B5EF4-FFF2-40B4-BE49-F238E27FC236}">
                <a16:creationId xmlns:a16="http://schemas.microsoft.com/office/drawing/2014/main" id="{97378EBC-3DC4-4EF3-B778-0E89CD81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05200"/>
            <a:ext cx="4391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它们依赖题目是否显性要求比较、检验、</a:t>
            </a:r>
            <a:br/>
            <a:r>
              <a:rPr>
                <a:latin typeface="Arial Unicode MS"/>
              </a:rPr>
              <a:t>修正模型或设计方案。</a:t>
            </a:r>
          </a:p>
        </p:txBody>
      </p:sp>
      <p:cxnSp>
        <p:nvCxnSpPr>
          <p:cNvPr id="50" name="Rule-453"/>
          <p:cNvCxnSpPr/>
          <p:nvPr/>
        </p:nvCxnSpPr>
        <p:spPr>
          <a:xfrm xmlns:a="http://schemas.openxmlformats.org/drawingml/2006/main">
            <a:off x="1343025" y="4086225"/>
            <a:ext cx="4391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4" name="Text-454">
            <a:extLst xmlns:a="http://schemas.openxmlformats.org/drawingml/2006/main">
              <a:ext uri="{FF2B5EF4-FFF2-40B4-BE49-F238E27FC236}">
                <a16:creationId xmlns:a16="http://schemas.microsoft.com/office/drawing/2014/main" id="{22B112E4-B231-4A75-BF7E-A683D46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57700"/>
            <a:ext cx="685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3</a:t>
            </a:r>
          </a:p>
        </p:txBody>
      </p:sp>
      <p:sp>
        <p:nvSpPr>
          <p:cNvPr id="15" name="Text-455">
            <a:extLst xmlns:a="http://schemas.openxmlformats.org/drawingml/2006/main">
              <a:ext uri="{FF2B5EF4-FFF2-40B4-BE49-F238E27FC236}">
                <a16:creationId xmlns:a16="http://schemas.microsoft.com/office/drawing/2014/main" id="{8CBD6431-43AA-4127-A733-2FBDF3A8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467225"/>
            <a:ext cx="43910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65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教学转化要改变任务结构，而不只是增加题量。</a:t>
            </a:r>
          </a:p>
        </p:txBody>
      </p:sp>
      <p:sp>
        <p:nvSpPr>
          <p:cNvPr id="16" name="Text-456">
            <a:extLst xmlns:a="http://schemas.openxmlformats.org/drawingml/2006/main">
              <a:ext uri="{FF2B5EF4-FFF2-40B4-BE49-F238E27FC236}">
                <a16:creationId xmlns:a16="http://schemas.microsoft.com/office/drawing/2014/main" id="{EC5A560E-858C-47D0-9510-36B94AF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857750"/>
            <a:ext cx="43910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通过关系图、证据链、模型比较和方案修订，</a:t>
            </a:r>
            <a:br/>
            <a:r>
              <a:rPr>
                <a:latin typeface="Arial Unicode MS"/>
              </a:rPr>
              <a:t>让思维过程成为可观察产出。</a:t>
            </a:r>
          </a:p>
        </p:txBody>
      </p:sp>
      <p:cxnSp>
        <p:nvCxnSpPr>
          <p:cNvPr id="54" name="Rule-457"/>
          <p:cNvCxnSpPr/>
          <p:nvPr/>
        </p:nvCxnSpPr>
        <p:spPr>
          <a:xfrm xmlns:a="http://schemas.openxmlformats.org/drawingml/2006/main">
            <a:off x="1343025" y="5438775"/>
            <a:ext cx="439102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9D9"/>
            </a:solidFill>
            <a:prstDash val="solid"/>
          </a:ln>
        </p:spPr>
      </p:cxnSp>
      <p:sp>
        <p:nvSpPr>
          <p:cNvPr id="18" name="Text-458">
            <a:extLst xmlns:a="http://schemas.openxmlformats.org/drawingml/2006/main">
              <a:ext uri="{FF2B5EF4-FFF2-40B4-BE49-F238E27FC236}">
                <a16:creationId xmlns:a16="http://schemas.microsoft.com/office/drawing/2014/main" id="{9479798F-0248-4DA3-846A-E49A2202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57300"/>
            <a:ext cx="4953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研究贡献</a:t>
            </a:r>
          </a:p>
        </p:txBody>
      </p:sp>
      <p:sp>
        <p:nvSpPr>
          <p:cNvPr id="19" name="Shape-459">
            <a:extLst xmlns:a="http://schemas.openxmlformats.org/drawingml/2006/main">
              <a:ext uri="{FF2B5EF4-FFF2-40B4-BE49-F238E27FC236}">
                <a16:creationId xmlns:a16="http://schemas.microsoft.com/office/drawing/2014/main" id="{69EC8AC9-BD28-4DC8-9758-8B96694B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5143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0" name="Shape-460">
            <a:extLst xmlns:a="http://schemas.openxmlformats.org/drawingml/2006/main">
              <a:ext uri="{FF2B5EF4-FFF2-40B4-BE49-F238E27FC236}">
                <a16:creationId xmlns:a16="http://schemas.microsoft.com/office/drawing/2014/main" id="{24686023-A758-4511-95EC-B303D1A4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21" name="Text-461">
            <a:extLst xmlns:a="http://schemas.openxmlformats.org/drawingml/2006/main">
              <a:ext uri="{FF2B5EF4-FFF2-40B4-BE49-F238E27FC236}">
                <a16:creationId xmlns:a16="http://schemas.microsoft.com/office/drawing/2014/main" id="{D6C8C432-DD12-47EB-A8B3-6F6D26AC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33575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方法</a:t>
            </a:r>
          </a:p>
        </p:txBody>
      </p:sp>
      <p:sp>
        <p:nvSpPr>
          <p:cNvPr id="22" name="Text-462">
            <a:extLst xmlns:a="http://schemas.openxmlformats.org/drawingml/2006/main">
              <a:ext uri="{FF2B5EF4-FFF2-40B4-BE49-F238E27FC236}">
                <a16:creationId xmlns:a16="http://schemas.microsoft.com/office/drawing/2014/main" id="{C825EE91-FC20-49CD-A9B0-10699825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33575"/>
            <a:ext cx="2476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7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双人独立编码与分歧复核</a:t>
            </a:r>
          </a:p>
        </p:txBody>
      </p:sp>
      <p:sp>
        <p:nvSpPr>
          <p:cNvPr id="23" name="Shape-463">
            <a:extLst xmlns:a="http://schemas.openxmlformats.org/drawingml/2006/main">
              <a:ext uri="{FF2B5EF4-FFF2-40B4-BE49-F238E27FC236}">
                <a16:creationId xmlns:a16="http://schemas.microsoft.com/office/drawing/2014/main" id="{31BC5051-EE8E-4F9A-BBDB-9CF662A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43175"/>
            <a:ext cx="5143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4" name="Shape-464">
            <a:extLst xmlns:a="http://schemas.openxmlformats.org/drawingml/2006/main">
              <a:ext uri="{FF2B5EF4-FFF2-40B4-BE49-F238E27FC236}">
                <a16:creationId xmlns:a16="http://schemas.microsoft.com/office/drawing/2014/main" id="{0547DDD0-0B6E-43C2-B263-213BB48E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43175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76A8A"/>
          </a:solidFill>
        </p:spPr>
        <p:txBody xmlns:a="http://schemas.openxmlformats.org/drawingml/2006/main">
          <a:bodyPr/>
          <a:p/>
        </p:txBody>
      </p:sp>
      <p:sp>
        <p:nvSpPr>
          <p:cNvPr id="25" name="Text-465">
            <a:extLst xmlns:a="http://schemas.openxmlformats.org/drawingml/2006/main">
              <a:ext uri="{FF2B5EF4-FFF2-40B4-BE49-F238E27FC236}">
                <a16:creationId xmlns:a16="http://schemas.microsoft.com/office/drawing/2014/main" id="{FBA76BE9-7E50-456F-BE34-7785937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数据</a:t>
            </a:r>
          </a:p>
        </p:txBody>
      </p:sp>
      <p:sp>
        <p:nvSpPr>
          <p:cNvPr id="26" name="Text-466">
            <a:extLst xmlns:a="http://schemas.openxmlformats.org/drawingml/2006/main">
              <a:ext uri="{FF2B5EF4-FFF2-40B4-BE49-F238E27FC236}">
                <a16:creationId xmlns:a16="http://schemas.microsoft.com/office/drawing/2014/main" id="{8E71781C-E48F-433B-977B-2815B4F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476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1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连续八届、221单元数据集</a:t>
            </a:r>
          </a:p>
        </p:txBody>
      </p:sp>
      <p:sp>
        <p:nvSpPr>
          <p:cNvPr id="27" name="Shape-467">
            <a:extLst xmlns:a="http://schemas.openxmlformats.org/drawingml/2006/main">
              <a:ext uri="{FF2B5EF4-FFF2-40B4-BE49-F238E27FC236}">
                <a16:creationId xmlns:a16="http://schemas.microsoft.com/office/drawing/2014/main" id="{E8ED19D2-697E-4091-87A0-E09AF50D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5143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28" name="Shape-468">
            <a:extLst xmlns:a="http://schemas.openxmlformats.org/drawingml/2006/main">
              <a:ext uri="{FF2B5EF4-FFF2-40B4-BE49-F238E27FC236}">
                <a16:creationId xmlns:a16="http://schemas.microsoft.com/office/drawing/2014/main" id="{68836AD3-1F5B-4139-AF75-6FB6835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7A29"/>
          </a:solidFill>
        </p:spPr>
        <p:txBody xmlns:a="http://schemas.openxmlformats.org/drawingml/2006/main">
          <a:bodyPr/>
          <a:p/>
        </p:txBody>
      </p:sp>
      <p:sp>
        <p:nvSpPr>
          <p:cNvPr id="29" name="Text-469">
            <a:extLst xmlns:a="http://schemas.openxmlformats.org/drawingml/2006/main">
              <a:ext uri="{FF2B5EF4-FFF2-40B4-BE49-F238E27FC236}">
                <a16:creationId xmlns:a16="http://schemas.microsoft.com/office/drawing/2014/main" id="{0DB7D35F-8128-4C29-8E3E-B3C72AB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0425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解释</a:t>
            </a:r>
          </a:p>
        </p:txBody>
      </p:sp>
      <p:sp>
        <p:nvSpPr>
          <p:cNvPr id="30" name="Text-470">
            <a:extLst xmlns:a="http://schemas.openxmlformats.org/drawingml/2006/main">
              <a:ext uri="{FF2B5EF4-FFF2-40B4-BE49-F238E27FC236}">
                <a16:creationId xmlns:a16="http://schemas.microsoft.com/office/drawing/2014/main" id="{E2701588-F481-4C99-8A46-F4350A4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00425"/>
            <a:ext cx="2476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典型题解释高认知要求机制</a:t>
            </a:r>
          </a:p>
        </p:txBody>
      </p:sp>
      <p:sp>
        <p:nvSpPr>
          <p:cNvPr id="31" name="Shape-471">
            <a:extLst xmlns:a="http://schemas.openxmlformats.org/drawingml/2006/main">
              <a:ext uri="{FF2B5EF4-FFF2-40B4-BE49-F238E27FC236}">
                <a16:creationId xmlns:a16="http://schemas.microsoft.com/office/drawing/2014/main" id="{97C66C4B-1CAB-4B4B-BE0D-E9714E14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0025"/>
            <a:ext cx="5143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3F3F3"/>
          </a:solidFill>
        </p:spPr>
        <p:txBody xmlns:a="http://schemas.openxmlformats.org/drawingml/2006/main">
          <a:bodyPr/>
          <a:p/>
        </p:txBody>
      </p:sp>
      <p:sp>
        <p:nvSpPr>
          <p:cNvPr id="32" name="Shape-472">
            <a:extLst xmlns:a="http://schemas.openxmlformats.org/drawingml/2006/main">
              <a:ext uri="{FF2B5EF4-FFF2-40B4-BE49-F238E27FC236}">
                <a16:creationId xmlns:a16="http://schemas.microsoft.com/office/drawing/2014/main" id="{FC546CBC-85F9-4FB1-AA3F-D7CFC6B8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10025"/>
            <a:ext cx="66675" cy="523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6B50"/>
          </a:solidFill>
        </p:spPr>
        <p:txBody xmlns:a="http://schemas.openxmlformats.org/drawingml/2006/main">
          <a:bodyPr/>
          <a:p/>
        </p:txBody>
      </p:sp>
      <p:sp>
        <p:nvSpPr>
          <p:cNvPr id="33" name="Text-473">
            <a:extLst xmlns:a="http://schemas.openxmlformats.org/drawingml/2006/main">
              <a:ext uri="{FF2B5EF4-FFF2-40B4-BE49-F238E27FC236}">
                <a16:creationId xmlns:a16="http://schemas.microsoft.com/office/drawing/2014/main" id="{0FAD4EDF-8F3C-434A-9F8F-2D96321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21907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实践</a:t>
            </a:r>
          </a:p>
        </p:txBody>
      </p:sp>
      <p:sp>
        <p:nvSpPr>
          <p:cNvPr id="34" name="Text-474">
            <a:extLst xmlns:a="http://schemas.openxmlformats.org/drawingml/2006/main">
              <a:ext uri="{FF2B5EF4-FFF2-40B4-BE49-F238E27FC236}">
                <a16:creationId xmlns:a16="http://schemas.microsoft.com/office/drawing/2014/main" id="{AE9534AD-719D-42D2-9B41-B799FA32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33850"/>
            <a:ext cx="24765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任务链、课堂产出与评价量规</a:t>
            </a:r>
          </a:p>
        </p:txBody>
      </p:sp>
      <p:sp>
        <p:nvSpPr>
          <p:cNvPr id="35" name="Shape-475">
            <a:extLst xmlns:a="http://schemas.openxmlformats.org/drawingml/2006/main">
              <a:ext uri="{FF2B5EF4-FFF2-40B4-BE49-F238E27FC236}">
                <a16:creationId xmlns:a16="http://schemas.microsoft.com/office/drawing/2014/main" id="{7B5F5295-A9A2-4A67-BDD2-CAFF458E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53000"/>
            <a:ext cx="5143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1F2"/>
          </a:solidFill>
        </p:spPr>
        <p:txBody xmlns:a="http://schemas.openxmlformats.org/drawingml/2006/main">
          <a:bodyPr/>
          <a:p/>
        </p:txBody>
      </p:sp>
      <p:sp>
        <p:nvSpPr>
          <p:cNvPr id="36" name="Text-476">
            <a:extLst xmlns:a="http://schemas.openxmlformats.org/drawingml/2006/main">
              <a:ext uri="{FF2B5EF4-FFF2-40B4-BE49-F238E27FC236}">
                <a16:creationId xmlns:a16="http://schemas.microsoft.com/office/drawing/2014/main" id="{D4854412-065D-4659-8345-AAFDE5B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43500"/>
            <a:ext cx="46291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本研究聚焦试题任务要求；教学设计仍需在</a:t>
            </a:r>
            <a:br/>
            <a:r>
              <a:rPr>
                <a:latin typeface="Arial Unicode MS"/>
              </a:rPr>
              <a:t>真实课堂中继续检验与修订。</a:t>
            </a:r>
          </a:p>
        </p:txBody>
      </p:sp>
      <p:sp>
        <p:nvSpPr>
          <p:cNvPr id="37" name="Text-481">
            <a:extLst xmlns:a="http://schemas.openxmlformats.org/drawingml/2006/main">
              <a:ext uri="{FF2B5EF4-FFF2-40B4-BE49-F238E27FC236}">
                <a16:creationId xmlns:a16="http://schemas.microsoft.com/office/drawing/2014/main" id="{68FB0EB6-A90D-47CE-8DDE-CEFCA2AD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34125"/>
            <a:ext cx="533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725091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482">
            <a:extLst xmlns:a="http://schemas.openxmlformats.org/drawingml/2006/main">
              <a:ext uri="{FF2B5EF4-FFF2-40B4-BE49-F238E27FC236}">
                <a16:creationId xmlns:a16="http://schemas.microsoft.com/office/drawing/2014/main" id="{24D6D4FA-921B-4BE0-85AD-B8656A1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FFFFF"/>
          </a:solidFill>
        </p:spPr>
        <p:txBody xmlns:a="http://schemas.openxmlformats.org/drawingml/2006/main">
          <a:bodyPr/>
          <a:p/>
        </p:txBody>
      </p:sp>
      <p:sp>
        <p:nvSpPr>
          <p:cNvPr id="2" name="Shape-483">
            <a:extLst xmlns:a="http://schemas.openxmlformats.org/drawingml/2006/main">
              <a:ext uri="{FF2B5EF4-FFF2-40B4-BE49-F238E27FC236}">
                <a16:creationId xmlns:a16="http://schemas.microsoft.com/office/drawing/2014/main" id="{EC75F6AC-71C4-4B9E-94F2-61E96D3B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7A1F2B"/>
          </a:solidFill>
        </p:spPr>
        <p:txBody xmlns:a="http://schemas.openxmlformats.org/drawingml/2006/main">
          <a:bodyPr/>
          <a:p/>
        </p:txBody>
      </p:sp>
      <p:sp>
        <p:nvSpPr>
          <p:cNvPr id="3" name="Text-484">
            <a:extLst xmlns:a="http://schemas.openxmlformats.org/drawingml/2006/main">
              <a:ext uri="{FF2B5EF4-FFF2-40B4-BE49-F238E27FC236}">
                <a16:creationId xmlns:a16="http://schemas.microsoft.com/office/drawing/2014/main" id="{827F0A65-8BF9-4784-A87A-26F66441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研究结论</a:t>
            </a:r>
          </a:p>
        </p:txBody>
      </p:sp>
      <p:sp>
        <p:nvSpPr>
          <p:cNvPr id="4" name="Text-485">
            <a:extLst xmlns:a="http://schemas.openxmlformats.org/drawingml/2006/main">
              <a:ext uri="{FF2B5EF4-FFF2-40B4-BE49-F238E27FC236}">
                <a16:creationId xmlns:a16="http://schemas.microsoft.com/office/drawing/2014/main" id="{CEB28343-7D0D-475D-90A3-2613CBC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620125" cy="251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复赛训练的关键，不只是
“下一步算什么”，而是
“条件如何进入关系”。</a:t>
            </a:r>
          </a:p>
        </p:txBody>
      </p:sp>
      <p:sp>
        <p:nvSpPr>
          <p:cNvPr id="5" name="Text-486">
            <a:extLst xmlns:a="http://schemas.openxmlformats.org/drawingml/2006/main">
              <a:ext uri="{FF2B5EF4-FFF2-40B4-BE49-F238E27FC236}">
                <a16:creationId xmlns:a16="http://schemas.microsoft.com/office/drawing/2014/main" id="{54850525-79E3-4470-A559-297279A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1000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数据</a:t>
            </a:r>
          </a:p>
        </p:txBody>
      </p:sp>
      <p:sp>
        <p:nvSpPr>
          <p:cNvPr id="6" name="Text-487">
            <a:extLst xmlns:a="http://schemas.openxmlformats.org/drawingml/2006/main">
              <a:ext uri="{FF2B5EF4-FFF2-40B4-BE49-F238E27FC236}">
                <a16:creationId xmlns:a16="http://schemas.microsoft.com/office/drawing/2014/main" id="{BB2FFD13-4D61-4923-9BEA-FC385A7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101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221个分析单元 / 884条记录</a:t>
            </a:r>
          </a:p>
        </p:txBody>
      </p:sp>
      <p:sp>
        <p:nvSpPr>
          <p:cNvPr id="7" name="Text-488">
            <a:extLst xmlns:a="http://schemas.openxmlformats.org/drawingml/2006/main">
              <a:ext uri="{FF2B5EF4-FFF2-40B4-BE49-F238E27FC236}">
                <a16:creationId xmlns:a16="http://schemas.microsoft.com/office/drawing/2014/main" id="{96CE037A-7584-4587-8633-B9C8E933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000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方法</a:t>
            </a:r>
          </a:p>
        </p:txBody>
      </p:sp>
      <p:sp>
        <p:nvSpPr>
          <p:cNvPr id="8" name="Text-489">
            <a:extLst xmlns:a="http://schemas.openxmlformats.org/drawingml/2006/main">
              <a:ext uri="{FF2B5EF4-FFF2-40B4-BE49-F238E27FC236}">
                <a16:creationId xmlns:a16="http://schemas.microsoft.com/office/drawing/2014/main" id="{228CE212-08E7-47D3-B7EC-9CBAFEB3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483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维度—等级—证据</a:t>
            </a:r>
          </a:p>
        </p:txBody>
      </p:sp>
      <p:sp>
        <p:nvSpPr>
          <p:cNvPr id="9" name="Text-490">
            <a:extLst xmlns:a="http://schemas.openxmlformats.org/drawingml/2006/main">
              <a:ext uri="{FF2B5EF4-FFF2-40B4-BE49-F238E27FC236}">
                <a16:creationId xmlns:a16="http://schemas.microsoft.com/office/drawing/2014/main" id="{F2633C32-0BE0-4FA8-B233-99909DFD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86450"/>
            <a:ext cx="1000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1F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实践</a:t>
            </a:r>
          </a:p>
        </p:txBody>
      </p:sp>
      <p:sp>
        <p:nvSpPr>
          <p:cNvPr id="10" name="Text-491">
            <a:extLst xmlns:a="http://schemas.openxmlformats.org/drawingml/2006/main">
              <a:ext uri="{FF2B5EF4-FFF2-40B4-BE49-F238E27FC236}">
                <a16:creationId xmlns:a16="http://schemas.microsoft.com/office/drawing/2014/main" id="{D96E4272-B866-4000-B0F1-A6A1FC50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8645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任务—支架—产出—反馈</a:t>
            </a:r>
          </a:p>
        </p:txBody>
      </p:sp>
      <p:sp>
        <p:nvSpPr>
          <p:cNvPr id="11" name="Text-492">
            <a:extLst xmlns:a="http://schemas.openxmlformats.org/drawingml/2006/main">
              <a:ext uri="{FF2B5EF4-FFF2-40B4-BE49-F238E27FC236}">
                <a16:creationId xmlns:a16="http://schemas.microsoft.com/office/drawing/2014/main" id="{C21483A9-364A-4F67-BC61-418A597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14975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>
                <a:latin typeface="Arial Unicode MS"/>
              </a:rPr>
              <a:t>恳请各位老师批评指正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81f0cd48b4b5c"/>
          <a:stretch xmlns:a="http://schemas.openxmlformats.org/drawingml/2006/main"/>
        </p:blipFill>
        <p:spPr>
          <a:xfrm xmlns:a="http://schemas.openxmlformats.org/drawingml/2006/main">
            <a:off x="8019261" y="523875"/>
            <a:ext cx="2916228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01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2026-07-31T03:30:18.5320000Z</dcterms:created>
  <dcterms:modified xsi:type="dcterms:W3CDTF">2026-07-31T03:30:18.5320000Z</dcterms:modified>
</coreProperties>
</file>